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45"/>
  </p:notesMasterIdLst>
  <p:sldIdLst>
    <p:sldId id="283" r:id="rId2"/>
    <p:sldId id="257" r:id="rId3"/>
    <p:sldId id="284" r:id="rId4"/>
    <p:sldId id="329" r:id="rId5"/>
    <p:sldId id="285" r:id="rId6"/>
    <p:sldId id="286" r:id="rId7"/>
    <p:sldId id="330" r:id="rId8"/>
    <p:sldId id="287" r:id="rId9"/>
    <p:sldId id="291" r:id="rId10"/>
    <p:sldId id="290" r:id="rId11"/>
    <p:sldId id="293" r:id="rId12"/>
    <p:sldId id="304" r:id="rId13"/>
    <p:sldId id="305" r:id="rId14"/>
    <p:sldId id="298" r:id="rId15"/>
    <p:sldId id="306" r:id="rId16"/>
    <p:sldId id="310" r:id="rId17"/>
    <p:sldId id="309" r:id="rId18"/>
    <p:sldId id="308" r:id="rId19"/>
    <p:sldId id="307" r:id="rId20"/>
    <p:sldId id="312" r:id="rId21"/>
    <p:sldId id="313" r:id="rId22"/>
    <p:sldId id="292" r:id="rId23"/>
    <p:sldId id="314" r:id="rId24"/>
    <p:sldId id="321" r:id="rId25"/>
    <p:sldId id="320" r:id="rId26"/>
    <p:sldId id="322" r:id="rId27"/>
    <p:sldId id="319" r:id="rId28"/>
    <p:sldId id="318" r:id="rId29"/>
    <p:sldId id="317" r:id="rId30"/>
    <p:sldId id="316" r:id="rId31"/>
    <p:sldId id="315" r:id="rId32"/>
    <p:sldId id="323" r:id="rId33"/>
    <p:sldId id="324" r:id="rId34"/>
    <p:sldId id="325" r:id="rId35"/>
    <p:sldId id="326" r:id="rId36"/>
    <p:sldId id="296" r:id="rId37"/>
    <p:sldId id="327" r:id="rId38"/>
    <p:sldId id="294" r:id="rId39"/>
    <p:sldId id="295" r:id="rId40"/>
    <p:sldId id="303" r:id="rId41"/>
    <p:sldId id="297" r:id="rId42"/>
    <p:sldId id="302" r:id="rId43"/>
    <p:sldId id="328" r:id="rId44"/>
  </p:sldIdLst>
  <p:sldSz cx="9906000" cy="6858000" type="A4"/>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guide id="3" pos="175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2163" autoAdjust="0"/>
  </p:normalViewPr>
  <p:slideViewPr>
    <p:cSldViewPr>
      <p:cViewPr varScale="1">
        <p:scale>
          <a:sx n="70" d="100"/>
          <a:sy n="70" d="100"/>
        </p:scale>
        <p:origin x="1158" y="66"/>
      </p:cViewPr>
      <p:guideLst>
        <p:guide orient="horz" pos="2880"/>
        <p:guide pos="2160"/>
        <p:guide pos="1755"/>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6905625" y="0"/>
            <a:ext cx="5283200" cy="342900"/>
          </a:xfrm>
          <a:prstGeom prst="rect">
            <a:avLst/>
          </a:prstGeom>
        </p:spPr>
        <p:txBody>
          <a:bodyPr vert="horz" lIns="91440" tIns="45720" rIns="91440" bIns="45720" rtlCol="0"/>
          <a:lstStyle>
            <a:lvl1pPr algn="r">
              <a:defRPr sz="1200"/>
            </a:lvl1pPr>
          </a:lstStyle>
          <a:p>
            <a:fld id="{74FD0BE2-165E-45B7-8741-691925E33557}" type="datetimeFigureOut">
              <a:rPr lang="en-US" smtClean="0"/>
              <a:pPr/>
              <a:t>7/28/2022</a:t>
            </a:fld>
            <a:endParaRPr lang="en-IN" dirty="0"/>
          </a:p>
        </p:txBody>
      </p:sp>
      <p:sp>
        <p:nvSpPr>
          <p:cNvPr id="4" name="Slide Image Placeholder 3"/>
          <p:cNvSpPr>
            <a:spLocks noGrp="1" noRot="1" noChangeAspect="1"/>
          </p:cNvSpPr>
          <p:nvPr>
            <p:ph type="sldImg" idx="2"/>
          </p:nvPr>
        </p:nvSpPr>
        <p:spPr>
          <a:xfrm>
            <a:off x="4238625" y="514350"/>
            <a:ext cx="3714750" cy="257175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29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6905625" y="6513513"/>
            <a:ext cx="5283200" cy="342900"/>
          </a:xfrm>
          <a:prstGeom prst="rect">
            <a:avLst/>
          </a:prstGeom>
        </p:spPr>
        <p:txBody>
          <a:bodyPr vert="horz" lIns="91440" tIns="45720" rIns="91440" bIns="45720" rtlCol="0" anchor="b"/>
          <a:lstStyle>
            <a:lvl1pPr algn="r">
              <a:defRPr sz="1200"/>
            </a:lvl1pPr>
          </a:lstStyle>
          <a:p>
            <a:fld id="{17C8688E-8FAC-478B-B928-BF3DA08AC832}" type="slidenum">
              <a:rPr lang="en-IN" smtClean="0"/>
              <a:pPr/>
              <a:t>‹#›</a:t>
            </a:fld>
            <a:endParaRPr lang="en-IN" dirty="0"/>
          </a:p>
        </p:txBody>
      </p:sp>
    </p:spTree>
    <p:extLst>
      <p:ext uri="{BB962C8B-B14F-4D97-AF65-F5344CB8AC3E}">
        <p14:creationId xmlns:p14="http://schemas.microsoft.com/office/powerpoint/2010/main" val="1037716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C8688E-8FAC-478B-B928-BF3DA08AC832}" type="slidenum">
              <a:rPr lang="en-IN" smtClean="0"/>
              <a:pPr/>
              <a:t>3</a:t>
            </a:fld>
            <a:endParaRPr lang="en-IN" dirty="0"/>
          </a:p>
        </p:txBody>
      </p:sp>
    </p:spTree>
    <p:extLst>
      <p:ext uri="{BB962C8B-B14F-4D97-AF65-F5344CB8AC3E}">
        <p14:creationId xmlns:p14="http://schemas.microsoft.com/office/powerpoint/2010/main" val="2174846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41"/>
            <a:ext cx="84201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D31F079-0874-4FF5-A6C2-2976294EE49D}" type="datetime1">
              <a:rPr lang="en-US" smtClean="0"/>
              <a:t>7/28/2022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67914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86EDC6E-DBF6-4E23-A00C-7E60CD0804DD}" type="datetime1">
              <a:rPr lang="en-US" smtClean="0"/>
              <a:t>7/28/2022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605393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16"/>
            <a:ext cx="84201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ADC0D3-C7B9-47C8-8E42-FAD603A41E4F}" type="datetime1">
              <a:rPr lang="en-US" smtClean="0"/>
              <a:t>7/28/2022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20908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60400" y="1600206"/>
            <a:ext cx="58610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686550" y="1600206"/>
            <a:ext cx="58610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7A98FFE-E779-4C74-9005-3F81FFA29198}" type="datetime1">
              <a:rPr lang="en-US" smtClean="0"/>
              <a:t>7/28/2022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20025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5032119" y="1535113"/>
            <a:ext cx="4378589"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9" y="2174875"/>
            <a:ext cx="4378589"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E6E70AE-9C37-44FF-B138-2F2FD220508C}" type="datetime1">
              <a:rPr lang="en-US" smtClean="0"/>
              <a:t>7/28/2022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98403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1B8BD82-8265-4295-836B-E5E21AF82D89}" type="datetime1">
              <a:rPr lang="en-US" smtClean="0"/>
              <a:t>7/28/2022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051105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D40286-4FE4-40AB-B621-5906BF8A7B38}" type="datetime1">
              <a:rPr lang="en-US" smtClean="0"/>
              <a:t>7/28/2022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54080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2" y="273050"/>
            <a:ext cx="3259006"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872971" y="273066"/>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95302"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D56889-F892-4A8F-9956-1E5AB1F2E78D}" type="datetime1">
              <a:rPr lang="en-US" smtClean="0"/>
              <a:t>7/28/2022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29951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4EC648-CC1C-4686-9F8E-DD42E17AF674}" type="datetime1">
              <a:rPr lang="en-US" smtClean="0"/>
              <a:t>7/28/2022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10061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5BC77FC-D730-4442-BF7D-B1A3FB018A58}" type="datetime1">
              <a:rPr lang="en-US" smtClean="0"/>
              <a:t>7/28/2022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09668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74654"/>
            <a:ext cx="29718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60400" y="274654"/>
            <a:ext cx="87503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E00FF4-3C41-400B-8504-C90FDD6A03A6}" type="datetime1">
              <a:rPr lang="en-US" smtClean="0"/>
              <a:t>7/28/2022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69751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95300" y="1600206"/>
            <a:ext cx="89154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95300" y="6356366"/>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647DE7-535B-4988-84B8-9A1F86CD0AF8}" type="datetime1">
              <a:rPr lang="en-US" smtClean="0"/>
              <a:t>7/28/2022</a:t>
            </a:fld>
            <a:endParaRPr lang="en-US" dirty="0"/>
          </a:p>
        </p:txBody>
      </p:sp>
      <p:sp>
        <p:nvSpPr>
          <p:cNvPr id="5" name="Footer Placeholder 4"/>
          <p:cNvSpPr>
            <a:spLocks noGrp="1"/>
          </p:cNvSpPr>
          <p:nvPr>
            <p:ph type="ftr" sz="quarter" idx="3"/>
          </p:nvPr>
        </p:nvSpPr>
        <p:spPr>
          <a:xfrm>
            <a:off x="3384550" y="6356366"/>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099300" y="6356366"/>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13673116"/>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4949785"/>
            <a:ext cx="4953000" cy="954107"/>
          </a:xfrm>
          <a:prstGeom prst="rect">
            <a:avLst/>
          </a:prstGeom>
          <a:noFill/>
        </p:spPr>
        <p:txBody>
          <a:bodyPr wrap="square" rtlCol="0">
            <a:spAutoFit/>
          </a:bodyPr>
          <a:lstStyle/>
          <a:p>
            <a:endParaRPr lang="en-US" sz="2000" b="1" dirty="0">
              <a:latin typeface="Times New Roman" pitchFamily="18" charset="0"/>
              <a:cs typeface="Times New Roman" pitchFamily="18" charset="0"/>
            </a:endParaRPr>
          </a:p>
          <a:p>
            <a:endParaRPr lang="en-US" b="1" dirty="0">
              <a:latin typeface="Times New Roman" pitchFamily="18" charset="0"/>
              <a:cs typeface="Times New Roman" pitchFamily="18" charset="0"/>
            </a:endParaRPr>
          </a:p>
          <a:p>
            <a:endParaRPr lang="en-US" b="1" dirty="0">
              <a:latin typeface="Aparajita" pitchFamily="34" charset="0"/>
              <a:cs typeface="Aparajita" pitchFamily="34" charset="0"/>
            </a:endParaRPr>
          </a:p>
        </p:txBody>
      </p:sp>
      <p:sp>
        <p:nvSpPr>
          <p:cNvPr id="6" name="TextBox 5"/>
          <p:cNvSpPr txBox="1"/>
          <p:nvPr/>
        </p:nvSpPr>
        <p:spPr>
          <a:xfrm>
            <a:off x="5530850" y="5657671"/>
            <a:ext cx="4375150" cy="1200329"/>
          </a:xfrm>
          <a:prstGeom prst="rect">
            <a:avLst/>
          </a:prstGeom>
          <a:noFill/>
        </p:spPr>
        <p:txBody>
          <a:bodyPr wrap="square" rtlCol="0">
            <a:spAutoFit/>
          </a:bodyPr>
          <a:lstStyle/>
          <a:p>
            <a:r>
              <a:rPr lang="en-US" sz="2400" b="1" dirty="0">
                <a:latin typeface="Times New Roman" pitchFamily="18" charset="0"/>
                <a:cs typeface="Times New Roman" pitchFamily="18" charset="0"/>
              </a:rPr>
              <a:t>Under The Guidance of:</a:t>
            </a:r>
          </a:p>
          <a:p>
            <a:r>
              <a:rPr lang="en-US" sz="2400" b="1" dirty="0">
                <a:latin typeface="Times New Roman" pitchFamily="18" charset="0"/>
                <a:cs typeface="Times New Roman" pitchFamily="18" charset="0"/>
              </a:rPr>
              <a:t>[Mrs. </a:t>
            </a:r>
            <a:r>
              <a:rPr lang="en-US" sz="2400" b="1" dirty="0" err="1">
                <a:latin typeface="Times New Roman" pitchFamily="18" charset="0"/>
                <a:cs typeface="Times New Roman" pitchFamily="18" charset="0"/>
              </a:rPr>
              <a:t>Kruthik</a:t>
            </a:r>
            <a:r>
              <a:rPr lang="en-US" sz="2400" b="1" dirty="0">
                <a:latin typeface="Times New Roman" pitchFamily="18" charset="0"/>
                <a:cs typeface="Times New Roman" pitchFamily="18" charset="0"/>
              </a:rPr>
              <a:t> Chand D C]</a:t>
            </a:r>
          </a:p>
          <a:p>
            <a:r>
              <a:rPr lang="en-US" sz="2400" b="1" dirty="0">
                <a:latin typeface="Times New Roman" pitchFamily="18" charset="0"/>
                <a:cs typeface="Times New Roman" pitchFamily="18" charset="0"/>
              </a:rPr>
              <a:t>         </a:t>
            </a:r>
          </a:p>
        </p:txBody>
      </p:sp>
      <p:sp>
        <p:nvSpPr>
          <p:cNvPr id="7" name="Title 6"/>
          <p:cNvSpPr>
            <a:spLocks noGrp="1"/>
          </p:cNvSpPr>
          <p:nvPr>
            <p:ph type="ctrTitle"/>
          </p:nvPr>
        </p:nvSpPr>
        <p:spPr>
          <a:xfrm>
            <a:off x="2590801" y="0"/>
            <a:ext cx="5867400" cy="1828800"/>
          </a:xfrm>
        </p:spPr>
        <p:txBody>
          <a:bodyPr>
            <a:noAutofit/>
          </a:bodyPr>
          <a:lstStyle/>
          <a:p>
            <a:pPr algn="ctr"/>
            <a:r>
              <a:rPr lang="en-US" sz="2400" b="1" dirty="0">
                <a:latin typeface="Times New Roman" pitchFamily="18" charset="0"/>
                <a:cs typeface="Times New Roman" pitchFamily="18" charset="0"/>
              </a:rPr>
              <a:t>Global Academy of Technology</a:t>
            </a:r>
            <a:br>
              <a:rPr lang="en-US" sz="2400" b="1" dirty="0"/>
            </a:br>
            <a:r>
              <a:rPr lang="en-US" sz="2400" dirty="0">
                <a:latin typeface="Times New Roman" pitchFamily="18" charset="0"/>
                <a:cs typeface="Times New Roman" pitchFamily="18" charset="0"/>
              </a:rPr>
              <a:t>Rajarajeshwari Nagar,Bengaluru-560098</a:t>
            </a:r>
          </a:p>
        </p:txBody>
      </p:sp>
      <p:pic>
        <p:nvPicPr>
          <p:cNvPr id="9" name="Picture 8" descr="logo.png"/>
          <p:cNvPicPr>
            <a:picLocks noChangeAspect="1"/>
          </p:cNvPicPr>
          <p:nvPr/>
        </p:nvPicPr>
        <p:blipFill>
          <a:blip r:embed="rId2"/>
          <a:stretch>
            <a:fillRect/>
          </a:stretch>
        </p:blipFill>
        <p:spPr>
          <a:xfrm>
            <a:off x="0" y="381000"/>
            <a:ext cx="1428750" cy="1444451"/>
          </a:xfrm>
          <a:prstGeom prst="rect">
            <a:avLst/>
          </a:prstGeom>
        </p:spPr>
      </p:pic>
      <p:sp>
        <p:nvSpPr>
          <p:cNvPr id="10" name="Title 6"/>
          <p:cNvSpPr txBox="1">
            <a:spLocks/>
          </p:cNvSpPr>
          <p:nvPr/>
        </p:nvSpPr>
        <p:spPr>
          <a:xfrm>
            <a:off x="685800" y="2038529"/>
            <a:ext cx="8534400" cy="4124206"/>
          </a:xfrm>
          <a:prstGeom prst="rect">
            <a:avLst/>
          </a:prstGeom>
        </p:spPr>
        <p:txBody>
          <a:bodyPr wrap="square" lIns="0" tIns="0" rIns="0" bIns="0">
            <a:spAutoFit/>
          </a:bodyPr>
          <a:lstStyle/>
          <a:p>
            <a:pPr lvl="0" algn="ctr">
              <a:defRPr/>
            </a:pPr>
            <a:r>
              <a:rPr lang="en-US" sz="2400" b="1" kern="0" dirty="0">
                <a:latin typeface="Times New Roman"/>
                <a:ea typeface="+mj-ea"/>
                <a:cs typeface="Times New Roman"/>
              </a:rPr>
              <a:t>Department of Electronics and Communication Engineering</a:t>
            </a:r>
          </a:p>
          <a:p>
            <a:pPr lvl="0" algn="ctr">
              <a:defRPr/>
            </a:pPr>
            <a:r>
              <a:rPr lang="en-US" sz="2000" b="1" kern="0">
                <a:latin typeface="Times New Roman"/>
                <a:ea typeface="+mj-ea"/>
                <a:cs typeface="Times New Roman"/>
              </a:rPr>
              <a:t>Mini Project </a:t>
            </a:r>
            <a:r>
              <a:rPr lang="en-US" sz="2000" b="1" kern="0" dirty="0">
                <a:latin typeface="Times New Roman"/>
                <a:ea typeface="+mj-ea"/>
                <a:cs typeface="Times New Roman"/>
              </a:rPr>
              <a:t>Presentation</a:t>
            </a:r>
          </a:p>
          <a:p>
            <a:pPr lvl="0" algn="ctr">
              <a:defRPr/>
            </a:pPr>
            <a:r>
              <a:rPr lang="en-US" sz="2000" kern="0" dirty="0">
                <a:latin typeface="Times New Roman"/>
                <a:ea typeface="+mj-ea"/>
                <a:cs typeface="Times New Roman"/>
              </a:rPr>
              <a:t>on</a:t>
            </a:r>
          </a:p>
          <a:p>
            <a:pPr lvl="0" algn="ctr"/>
            <a:r>
              <a:rPr lang="en-US" sz="2400" b="1" kern="0" dirty="0">
                <a:latin typeface="Times New Roman"/>
                <a:ea typeface="+mj-ea"/>
                <a:cs typeface="Times New Roman"/>
              </a:rPr>
              <a:t>“SENTIMENT ANALYSIS THROUGH TEXT RECOGNITION”</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i="0" u="none" strike="noStrike" kern="0" cap="none" spc="0" normalizeH="0" baseline="0" noProof="0" dirty="0">
              <a:ln>
                <a:noFill/>
              </a:ln>
              <a:effectLst/>
              <a:uLnTx/>
              <a:uFillTx/>
              <a:latin typeface="Times New Roman"/>
              <a:ea typeface="+mj-ea"/>
              <a:cs typeface="Times New Roman"/>
            </a:endParaRPr>
          </a:p>
          <a:p>
            <a:r>
              <a:rPr lang="en-US" sz="2000" b="1" dirty="0">
                <a:latin typeface="Times New Roman" pitchFamily="18" charset="0"/>
                <a:cs typeface="Times New Roman" pitchFamily="18" charset="0"/>
              </a:rPr>
              <a:t>PRESENTED BY:</a:t>
            </a:r>
          </a:p>
          <a:p>
            <a:r>
              <a:rPr lang="en-US" sz="2000" b="1" dirty="0">
                <a:latin typeface="Times New Roman" pitchFamily="18" charset="0"/>
                <a:cs typeface="Times New Roman" pitchFamily="18" charset="0"/>
              </a:rPr>
              <a:t>[LIKHITH K             	1GA19EC075]</a:t>
            </a:r>
          </a:p>
          <a:p>
            <a:r>
              <a:rPr lang="en-US" sz="2000" b="1" dirty="0">
                <a:latin typeface="Times New Roman" pitchFamily="18" charset="0"/>
                <a:cs typeface="Times New Roman" pitchFamily="18" charset="0"/>
              </a:rPr>
              <a:t>[MAHESH TR           	1GA19EC079]</a:t>
            </a:r>
          </a:p>
          <a:p>
            <a:r>
              <a:rPr lang="en-US" sz="2000" b="1" dirty="0">
                <a:latin typeface="Times New Roman" pitchFamily="18" charset="0"/>
                <a:cs typeface="Times New Roman" pitchFamily="18" charset="0"/>
              </a:rPr>
              <a:t>[MUKESH TS            	1GA19EC088]</a:t>
            </a:r>
          </a:p>
          <a:p>
            <a:r>
              <a:rPr lang="en-US" sz="2000" b="1" dirty="0">
                <a:latin typeface="Times New Roman" pitchFamily="18" charset="0"/>
                <a:cs typeface="Times New Roman" pitchFamily="18" charset="0"/>
              </a:rPr>
              <a:t>[RAJNISH KUMAR  	1GA19EC117]</a:t>
            </a:r>
          </a:p>
          <a:p>
            <a:pPr algn="just"/>
            <a:endParaRPr lang="en-US" sz="3200" b="1" dirty="0">
              <a:cs typeface="Arial" pitchFamily="34" charset="0"/>
            </a:endParaRPr>
          </a:p>
        </p:txBody>
      </p:sp>
      <p:pic>
        <p:nvPicPr>
          <p:cNvPr id="8" name="Picture 7" descr="E:\84.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28411" y="476429"/>
            <a:ext cx="1067991" cy="1066800"/>
          </a:xfrm>
          <a:prstGeom prst="rect">
            <a:avLst/>
          </a:prstGeom>
          <a:noFill/>
          <a:ln>
            <a:noFill/>
          </a:ln>
        </p:spPr>
      </p:pic>
      <p:pic>
        <p:nvPicPr>
          <p:cNvPr id="1026" name="Picture 2"/>
          <p:cNvPicPr>
            <a:picLocks noChangeAspect="1" noChangeArrowheads="1"/>
          </p:cNvPicPr>
          <p:nvPr/>
        </p:nvPicPr>
        <p:blipFill>
          <a:blip r:embed="rId4"/>
          <a:srcRect/>
          <a:stretch>
            <a:fillRect/>
          </a:stretch>
        </p:blipFill>
        <p:spPr bwMode="auto">
          <a:xfrm>
            <a:off x="1600201" y="705029"/>
            <a:ext cx="1219200" cy="838200"/>
          </a:xfrm>
          <a:prstGeom prst="rect">
            <a:avLst/>
          </a:prstGeom>
          <a:noFill/>
          <a:ln w="9525">
            <a:noFill/>
            <a:miter lim="800000"/>
            <a:headEnd/>
            <a:tailEnd/>
          </a:ln>
          <a:effectLst/>
        </p:spPr>
      </p:pic>
      <p:sp>
        <p:nvSpPr>
          <p:cNvPr id="12" name="TextBox 11"/>
          <p:cNvSpPr txBox="1"/>
          <p:nvPr/>
        </p:nvSpPr>
        <p:spPr>
          <a:xfrm>
            <a:off x="1752600" y="1295400"/>
            <a:ext cx="7086600" cy="1361911"/>
          </a:xfrm>
          <a:prstGeom prst="rect">
            <a:avLst/>
          </a:prstGeom>
          <a:noFill/>
        </p:spPr>
        <p:txBody>
          <a:bodyPr wrap="square" rtlCol="0">
            <a:spAutoFit/>
          </a:bodyPr>
          <a:lstStyle/>
          <a:p>
            <a:pPr marL="12700">
              <a:spcBef>
                <a:spcPts val="105"/>
              </a:spcBef>
            </a:pPr>
            <a:r>
              <a:rPr lang="en-US" sz="2000" b="1" dirty="0">
                <a:solidFill>
                  <a:srgbClr val="000000"/>
                </a:solidFill>
                <a:latin typeface="Times New Roman"/>
                <a:cs typeface="Times New Roman"/>
              </a:rPr>
              <a:t>                     </a:t>
            </a:r>
            <a:r>
              <a:rPr lang="en-US" sz="2000" b="1" dirty="0" err="1">
                <a:solidFill>
                  <a:srgbClr val="000000"/>
                </a:solidFill>
                <a:latin typeface="Times New Roman"/>
                <a:cs typeface="Times New Roman"/>
              </a:rPr>
              <a:t>Accreditated</a:t>
            </a:r>
            <a:r>
              <a:rPr lang="en-US" sz="2000" b="1" dirty="0">
                <a:solidFill>
                  <a:srgbClr val="000000"/>
                </a:solidFill>
                <a:latin typeface="Times New Roman"/>
                <a:cs typeface="Times New Roman"/>
              </a:rPr>
              <a:t> by NAAC ‘A’ Grade and NBA</a:t>
            </a:r>
          </a:p>
          <a:p>
            <a:pPr marL="12700">
              <a:spcBef>
                <a:spcPts val="105"/>
              </a:spcBef>
            </a:pPr>
            <a:endParaRPr lang="en-US" sz="2000" b="1" dirty="0">
              <a:solidFill>
                <a:srgbClr val="000000"/>
              </a:solidFill>
              <a:latin typeface="Times New Roman"/>
              <a:cs typeface="Times New Roman"/>
            </a:endParaRPr>
          </a:p>
          <a:p>
            <a:pPr marL="12700">
              <a:spcBef>
                <a:spcPts val="105"/>
              </a:spcBef>
            </a:pPr>
            <a:endParaRPr lang="en-US" sz="2000" b="1" dirty="0">
              <a:solidFill>
                <a:srgbClr val="000000"/>
              </a:solidFill>
              <a:latin typeface="Times New Roman"/>
              <a:cs typeface="Times New Roman"/>
            </a:endParaRPr>
          </a:p>
          <a:p>
            <a:pPr marL="12700">
              <a:spcBef>
                <a:spcPts val="105"/>
              </a:spcBef>
            </a:pPr>
            <a:endParaRPr lang="en-US" sz="2000" b="1" dirty="0">
              <a:solidFill>
                <a:srgbClr val="000000"/>
              </a:solidFill>
              <a:latin typeface="Times New Roman"/>
              <a:cs typeface="Times New Roman"/>
            </a:endParaRPr>
          </a:p>
        </p:txBody>
      </p:sp>
      <p:sp>
        <p:nvSpPr>
          <p:cNvPr id="13" name="Footer Placeholder 3">
            <a:extLst>
              <a:ext uri="{FF2B5EF4-FFF2-40B4-BE49-F238E27FC236}">
                <a16:creationId xmlns:a16="http://schemas.microsoft.com/office/drawing/2014/main" id="{7C5A4254-385F-D55D-57BA-418EA3C8F228}"/>
              </a:ext>
            </a:extLst>
          </p:cNvPr>
          <p:cNvSpPr>
            <a:spLocks noGrp="1"/>
          </p:cNvSpPr>
          <p:nvPr>
            <p:ph type="ftr" sz="quarter" idx="11"/>
          </p:nvPr>
        </p:nvSpPr>
        <p:spPr>
          <a:xfrm>
            <a:off x="3124200" y="6372464"/>
            <a:ext cx="3136900" cy="365125"/>
          </a:xfrm>
        </p:spPr>
        <p:txBody>
          <a:bodyPr/>
          <a:lstStyle/>
          <a:p>
            <a:r>
              <a:rPr lang="en-US" sz="1400" b="1" dirty="0">
                <a:solidFill>
                  <a:schemeClr val="tx1"/>
                </a:solidFill>
                <a:latin typeface="Times New Roman" panose="02020603050405020304" pitchFamily="18" charset="0"/>
                <a:cs typeface="Times New Roman" panose="02020603050405020304" pitchFamily="18" charset="0"/>
              </a:rPr>
              <a:t>Department of ECE</a:t>
            </a:r>
          </a:p>
        </p:txBody>
      </p:sp>
    </p:spTree>
  </p:cSld>
  <p:clrMapOvr>
    <a:masterClrMapping/>
  </p:clrMapOvr>
  <p:transition advTm="1500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4800" y="990600"/>
            <a:ext cx="8610600" cy="5614999"/>
          </a:xfrm>
          <a:prstGeom prst="rect">
            <a:avLst/>
          </a:prstGeom>
        </p:spPr>
        <p:txBody>
          <a:bodyPr vert="horz" wrap="square" lIns="0" tIns="140335" rIns="0" bIns="0" rtlCol="0">
            <a:spAutoFit/>
          </a:bodyPr>
          <a:lstStyle/>
          <a:p>
            <a:pPr marL="12700">
              <a:lnSpc>
                <a:spcPct val="100000"/>
              </a:lnSpc>
              <a:spcBef>
                <a:spcPts val="1105"/>
              </a:spcBef>
              <a:buClr>
                <a:schemeClr val="tx1"/>
              </a:buClr>
              <a:buFont typeface="Wingdings" pitchFamily="2" charset="2"/>
              <a:buChar char="v"/>
            </a:pPr>
            <a:r>
              <a:rPr sz="2400" spc="-5" dirty="0">
                <a:latin typeface="Times New Roman" pitchFamily="18" charset="0"/>
                <a:cs typeface="Times New Roman" pitchFamily="18" charset="0"/>
              </a:rPr>
              <a:t>Introduction</a:t>
            </a:r>
            <a:endParaRPr lang="en-US" sz="2400" spc="-5" dirty="0">
              <a:latin typeface="Times New Roman" pitchFamily="18" charset="0"/>
              <a:cs typeface="Times New Roman" pitchFamily="18" charset="0"/>
            </a:endParaRPr>
          </a:p>
          <a:p>
            <a:pPr marL="12700">
              <a:lnSpc>
                <a:spcPct val="100000"/>
              </a:lnSpc>
              <a:spcBef>
                <a:spcPts val="1105"/>
              </a:spcBef>
              <a:buClr>
                <a:schemeClr val="tx1"/>
              </a:buClr>
              <a:buFont typeface="Wingdings" pitchFamily="2" charset="2"/>
              <a:buChar char="v"/>
            </a:pPr>
            <a:r>
              <a:rPr lang="en-US" sz="2400" spc="-5" dirty="0">
                <a:latin typeface="Times New Roman" pitchFamily="18" charset="0"/>
                <a:cs typeface="Times New Roman" pitchFamily="18" charset="0"/>
              </a:rPr>
              <a:t>Literature Survey</a:t>
            </a:r>
          </a:p>
          <a:p>
            <a:pPr marL="12700">
              <a:spcBef>
                <a:spcPts val="1105"/>
              </a:spcBef>
              <a:buClr>
                <a:schemeClr val="tx1"/>
              </a:buClr>
              <a:buFont typeface="Wingdings" pitchFamily="2" charset="2"/>
              <a:buChar char="v"/>
            </a:pPr>
            <a:r>
              <a:rPr lang="en-US" sz="2400" spc="-5" dirty="0">
                <a:latin typeface="Times New Roman" pitchFamily="18" charset="0"/>
                <a:cs typeface="Times New Roman" pitchFamily="18" charset="0"/>
              </a:rPr>
              <a:t>Problem Definition</a:t>
            </a:r>
          </a:p>
          <a:p>
            <a:pPr marL="12700">
              <a:spcBef>
                <a:spcPts val="1105"/>
              </a:spcBef>
              <a:buClr>
                <a:schemeClr val="tx1"/>
              </a:buClr>
              <a:buFont typeface="Wingdings" pitchFamily="2" charset="2"/>
              <a:buChar char="v"/>
            </a:pPr>
            <a:r>
              <a:rPr lang="en-US" sz="2400" spc="-5" dirty="0">
                <a:latin typeface="Times New Roman" pitchFamily="18" charset="0"/>
                <a:cs typeface="Times New Roman" pitchFamily="18" charset="0"/>
              </a:rPr>
              <a:t>Objectives</a:t>
            </a:r>
          </a:p>
          <a:p>
            <a:pPr marL="12700">
              <a:spcBef>
                <a:spcPts val="1105"/>
              </a:spcBef>
              <a:buClr>
                <a:schemeClr val="tx1"/>
              </a:buClr>
              <a:buFont typeface="Wingdings" pitchFamily="2" charset="2"/>
              <a:buChar char="v"/>
            </a:pPr>
            <a:r>
              <a:rPr lang="en-US" sz="2400" spc="-5" dirty="0">
                <a:latin typeface="Times New Roman" pitchFamily="18" charset="0"/>
                <a:cs typeface="Times New Roman" pitchFamily="18" charset="0"/>
              </a:rPr>
              <a:t>Methodology / Working</a:t>
            </a:r>
          </a:p>
          <a:p>
            <a:pPr marL="12700">
              <a:spcBef>
                <a:spcPts val="1105"/>
              </a:spcBef>
              <a:buClr>
                <a:schemeClr val="tx1"/>
              </a:buClr>
              <a:buFont typeface="Wingdings" pitchFamily="2" charset="2"/>
              <a:buChar char="v"/>
            </a:pPr>
            <a:r>
              <a:rPr lang="en-US" sz="2400" spc="-5" dirty="0">
                <a:latin typeface="Times New Roman" pitchFamily="18" charset="0"/>
                <a:cs typeface="Times New Roman" pitchFamily="18" charset="0"/>
              </a:rPr>
              <a:t>Implementation / Block Diagram / Flow chart</a:t>
            </a:r>
          </a:p>
          <a:p>
            <a:pPr marL="12700">
              <a:lnSpc>
                <a:spcPct val="100000"/>
              </a:lnSpc>
              <a:spcBef>
                <a:spcPts val="1105"/>
              </a:spcBef>
              <a:buFont typeface="Wingdings" pitchFamily="2" charset="2"/>
              <a:buChar char="v"/>
            </a:pPr>
            <a:r>
              <a:rPr lang="en-US" sz="2400" spc="-5" dirty="0">
                <a:latin typeface="Times New Roman" pitchFamily="18" charset="0"/>
                <a:cs typeface="Times New Roman" pitchFamily="18" charset="0"/>
              </a:rPr>
              <a:t>Results  and Expected outcomes</a:t>
            </a:r>
          </a:p>
          <a:p>
            <a:pPr marL="12700">
              <a:lnSpc>
                <a:spcPct val="100000"/>
              </a:lnSpc>
              <a:spcBef>
                <a:spcPts val="1105"/>
              </a:spcBef>
              <a:buFont typeface="Wingdings" pitchFamily="2" charset="2"/>
              <a:buChar char="v"/>
            </a:pPr>
            <a:r>
              <a:rPr lang="en-US" sz="2400" spc="-5" dirty="0">
                <a:latin typeface="Times New Roman" pitchFamily="18" charset="0"/>
                <a:cs typeface="Times New Roman" pitchFamily="18" charset="0"/>
              </a:rPr>
              <a:t>Advantages / Disadvantages</a:t>
            </a:r>
          </a:p>
          <a:p>
            <a:pPr marL="12700">
              <a:spcBef>
                <a:spcPts val="1105"/>
              </a:spcBef>
              <a:buFont typeface="Wingdings" pitchFamily="2" charset="2"/>
              <a:buChar char="v"/>
            </a:pPr>
            <a:r>
              <a:rPr lang="en-US" sz="2400" spc="-5" dirty="0">
                <a:latin typeface="Times New Roman" pitchFamily="18" charset="0"/>
                <a:cs typeface="Times New Roman" pitchFamily="18" charset="0"/>
              </a:rPr>
              <a:t>Applications</a:t>
            </a:r>
          </a:p>
          <a:p>
            <a:pPr marL="12700">
              <a:spcBef>
                <a:spcPts val="1105"/>
              </a:spcBef>
              <a:buFont typeface="Wingdings" pitchFamily="2" charset="2"/>
              <a:buChar char="v"/>
            </a:pPr>
            <a:r>
              <a:rPr lang="en-US" sz="2400" spc="-5" dirty="0">
                <a:latin typeface="Times New Roman" pitchFamily="18" charset="0"/>
                <a:cs typeface="Times New Roman" pitchFamily="18" charset="0"/>
              </a:rPr>
              <a:t>Conclusion</a:t>
            </a:r>
          </a:p>
          <a:p>
            <a:pPr marL="12700">
              <a:lnSpc>
                <a:spcPct val="100000"/>
              </a:lnSpc>
              <a:spcBef>
                <a:spcPts val="1105"/>
              </a:spcBef>
              <a:buFont typeface="Wingdings" pitchFamily="2" charset="2"/>
              <a:buChar char="v"/>
            </a:pPr>
            <a:r>
              <a:rPr lang="en-IN" sz="2400" spc="-5" dirty="0">
                <a:latin typeface="Times New Roman" pitchFamily="18" charset="0"/>
                <a:cs typeface="Times New Roman" pitchFamily="18" charset="0"/>
              </a:rPr>
              <a:t>References </a:t>
            </a:r>
          </a:p>
        </p:txBody>
      </p:sp>
      <p:sp>
        <p:nvSpPr>
          <p:cNvPr id="4" name="Title 3"/>
          <p:cNvSpPr>
            <a:spLocks noGrp="1"/>
          </p:cNvSpPr>
          <p:nvPr>
            <p:ph type="title"/>
          </p:nvPr>
        </p:nvSpPr>
        <p:spPr>
          <a:xfrm>
            <a:off x="495300" y="274638"/>
            <a:ext cx="8915400" cy="715962"/>
          </a:xfrm>
        </p:spPr>
        <p:txBody>
          <a:bodyPr>
            <a:normAutofit fontScale="90000"/>
          </a:bodyPr>
          <a:lstStyle/>
          <a:p>
            <a:r>
              <a:rPr lang="en-US" u="sng" dirty="0"/>
              <a:t>Contents</a:t>
            </a:r>
          </a:p>
        </p:txBody>
      </p:sp>
      <p:sp>
        <p:nvSpPr>
          <p:cNvPr id="7" name="Footer Placeholder 3">
            <a:extLst>
              <a:ext uri="{FF2B5EF4-FFF2-40B4-BE49-F238E27FC236}">
                <a16:creationId xmlns:a16="http://schemas.microsoft.com/office/drawing/2014/main" id="{F6D421FD-3488-21CC-6F07-551087174B75}"/>
              </a:ext>
            </a:extLst>
          </p:cNvPr>
          <p:cNvSpPr>
            <a:spLocks noGrp="1"/>
          </p:cNvSpPr>
          <p:nvPr>
            <p:ph type="ftr" sz="quarter" idx="11"/>
          </p:nvPr>
        </p:nvSpPr>
        <p:spPr>
          <a:xfrm>
            <a:off x="3384550" y="6356366"/>
            <a:ext cx="3136900" cy="365125"/>
          </a:xfrm>
        </p:spPr>
        <p:txBody>
          <a:bodyPr/>
          <a:lstStyle/>
          <a:p>
            <a:r>
              <a:rPr lang="en-US" sz="1400" b="1" dirty="0">
                <a:solidFill>
                  <a:schemeClr val="tx1"/>
                </a:solidFill>
                <a:latin typeface="Times New Roman" panose="02020603050405020304" pitchFamily="18" charset="0"/>
                <a:cs typeface="Times New Roman" panose="02020603050405020304" pitchFamily="18" charset="0"/>
              </a:rPr>
              <a:t>Department of ECE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35E37-55A2-DF18-62D4-D0746F39682E}"/>
              </a:ext>
            </a:extLst>
          </p:cNvPr>
          <p:cNvSpPr>
            <a:spLocks noGrp="1"/>
          </p:cNvSpPr>
          <p:nvPr>
            <p:ph type="title"/>
          </p:nvPr>
        </p:nvSpPr>
        <p:spPr/>
        <p:txBody>
          <a:bodyPr>
            <a:normAutofit/>
          </a:bodyPr>
          <a:lstStyle/>
          <a:p>
            <a:r>
              <a:rPr lang="en-IN" u="sng" dirty="0"/>
              <a:t>INTRODUCTION</a:t>
            </a:r>
          </a:p>
        </p:txBody>
      </p:sp>
      <p:sp>
        <p:nvSpPr>
          <p:cNvPr id="3" name="Content Placeholder 2">
            <a:extLst>
              <a:ext uri="{FF2B5EF4-FFF2-40B4-BE49-F238E27FC236}">
                <a16:creationId xmlns:a16="http://schemas.microsoft.com/office/drawing/2014/main" id="{F8455E98-D867-80CF-B4E1-EBD89F45DD1F}"/>
              </a:ext>
            </a:extLst>
          </p:cNvPr>
          <p:cNvSpPr>
            <a:spLocks noGrp="1"/>
          </p:cNvSpPr>
          <p:nvPr>
            <p:ph idx="1"/>
          </p:nvPr>
        </p:nvSpPr>
        <p:spPr>
          <a:xfrm>
            <a:off x="381000" y="1219200"/>
            <a:ext cx="8839200" cy="5638800"/>
          </a:xfrm>
        </p:spPr>
        <p:txBody>
          <a:bodyPr>
            <a:normAutofit fontScale="25000" lnSpcReduction="20000"/>
          </a:bodyPr>
          <a:lstStyle/>
          <a:p>
            <a:endParaRPr lang="en-IN" sz="4400" b="1" dirty="0"/>
          </a:p>
          <a:p>
            <a:pPr marL="0" indent="0">
              <a:buNone/>
            </a:pPr>
            <a:r>
              <a:rPr lang="en-IN" sz="11200" b="1" dirty="0"/>
              <a:t>SENTIMENT ANALYSIS</a:t>
            </a:r>
          </a:p>
          <a:p>
            <a:pPr marL="0" indent="0">
              <a:buNone/>
            </a:pPr>
            <a:endParaRPr lang="en-IN" sz="4400" b="1" dirty="0"/>
          </a:p>
          <a:p>
            <a:pPr marL="0" indent="0">
              <a:buNone/>
            </a:pPr>
            <a:r>
              <a:rPr lang="en-IN" dirty="0"/>
              <a:t>  </a:t>
            </a:r>
            <a:r>
              <a:rPr lang="en-IN" sz="11200" dirty="0"/>
              <a:t>*</a:t>
            </a:r>
            <a:r>
              <a:rPr lang="en-US" sz="11200" dirty="0"/>
              <a:t>Project aim is to recognize the text image and the emotion of the text by the process called ‘sentiment analysis’. </a:t>
            </a:r>
          </a:p>
          <a:p>
            <a:pPr marL="0" indent="0">
              <a:buNone/>
            </a:pPr>
            <a:r>
              <a:rPr lang="en-US" dirty="0"/>
              <a:t>  </a:t>
            </a:r>
            <a:r>
              <a:rPr lang="en-US" sz="11200" dirty="0"/>
              <a:t>*This is a part of natural language processing(NLP). </a:t>
            </a:r>
          </a:p>
          <a:p>
            <a:pPr marL="0" indent="0">
              <a:buNone/>
            </a:pPr>
            <a:r>
              <a:rPr lang="en-US" sz="11200" dirty="0"/>
              <a:t> *Sentiment analysis is the process of finding the polarity present in text. </a:t>
            </a:r>
          </a:p>
          <a:p>
            <a:pPr marL="0" indent="0">
              <a:buNone/>
            </a:pPr>
            <a:r>
              <a:rPr lang="en-US" sz="11200" dirty="0"/>
              <a:t>*This analysis gives the power to computer to understand and interrupt the sentences, paragraph, whole document by analyzing the grammatical structure &amp; identifying the relationship between individual word of sentence in a particular context. </a:t>
            </a:r>
          </a:p>
        </p:txBody>
      </p:sp>
    </p:spTree>
    <p:extLst>
      <p:ext uri="{BB962C8B-B14F-4D97-AF65-F5344CB8AC3E}">
        <p14:creationId xmlns:p14="http://schemas.microsoft.com/office/powerpoint/2010/main" val="3776059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57AEFA6-E89E-A9E5-0B24-94701BCBCDF6}"/>
              </a:ext>
            </a:extLst>
          </p:cNvPr>
          <p:cNvSpPr txBox="1"/>
          <p:nvPr/>
        </p:nvSpPr>
        <p:spPr>
          <a:xfrm>
            <a:off x="381000" y="457200"/>
            <a:ext cx="8915400" cy="5262979"/>
          </a:xfrm>
          <a:prstGeom prst="rect">
            <a:avLst/>
          </a:prstGeom>
          <a:noFill/>
        </p:spPr>
        <p:txBody>
          <a:bodyPr wrap="square">
            <a:spAutoFit/>
          </a:bodyPr>
          <a:lstStyle/>
          <a:p>
            <a:endParaRPr lang="en-IN" sz="2800" b="1" dirty="0">
              <a:latin typeface="Times New Roman" panose="02020603050405020304" pitchFamily="18" charset="0"/>
              <a:cs typeface="Times New Roman" panose="02020603050405020304" pitchFamily="18" charset="0"/>
            </a:endParaRPr>
          </a:p>
          <a:p>
            <a:pPr marL="0" indent="0">
              <a:buNone/>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*Sentiment analysis (or opinion mining) is a natural language processing (NLP) technique used to determine whether data is positive, negative, or neutral. Sentiment analysis is often performed on textual data to help businesses monitor brand and product sentiment in customer feedback, and understand customer needs.</a:t>
            </a:r>
          </a:p>
          <a:p>
            <a:pPr marL="0" indent="0">
              <a:buNone/>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a:t>
            </a: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Sentiment Analysis, an area of Natural Language Processing (NLP), is used to classify the reviews using the sentiment of the words into positive or negative. Using the sentiment expressed in the words, opinions on any entity can be categorized as positive or negative, or neutral.</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4388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9B931C9-1F20-0582-81F3-798EE84EF423}"/>
              </a:ext>
            </a:extLst>
          </p:cNvPr>
          <p:cNvSpPr txBox="1"/>
          <p:nvPr/>
        </p:nvSpPr>
        <p:spPr>
          <a:xfrm>
            <a:off x="685800" y="304800"/>
            <a:ext cx="8915400" cy="6494085"/>
          </a:xfrm>
          <a:prstGeom prst="rect">
            <a:avLst/>
          </a:prstGeom>
          <a:noFill/>
        </p:spPr>
        <p:txBody>
          <a:bodyPr wrap="square">
            <a:spAutoFit/>
          </a:bodyPr>
          <a:lstStyle/>
          <a:p>
            <a:pPr marL="0" indent="0">
              <a:buNone/>
            </a:pPr>
            <a:r>
              <a:rPr lang="en-US" sz="2800" dirty="0">
                <a:latin typeface="Times New Roman" panose="02020603050405020304" pitchFamily="18" charset="0"/>
                <a:cs typeface="Times New Roman" panose="02020603050405020304" pitchFamily="18" charset="0"/>
              </a:rPr>
              <a:t>*Therefore, the goal of Sentiment analysis is to draw the exact dictionary meaning from the text.</a:t>
            </a:r>
          </a:p>
          <a:p>
            <a:pPr marL="0" indent="0">
              <a:buNone/>
            </a:pPr>
            <a:r>
              <a:rPr lang="en-US" sz="2800" dirty="0">
                <a:latin typeface="Times New Roman" panose="02020603050405020304" pitchFamily="18" charset="0"/>
                <a:cs typeface="Times New Roman" panose="02020603050405020304" pitchFamily="18" charset="0"/>
              </a:rPr>
              <a:t>*Emotion detection sentiment analysis allows us to go beyond  polarity to detect emotions like positivity, negativity and neutrality.</a:t>
            </a:r>
          </a:p>
          <a:p>
            <a:pPr marL="0" indent="0">
              <a:buNone/>
            </a:pPr>
            <a:r>
              <a:rPr lang="en-US" sz="2800" dirty="0">
                <a:latin typeface="Times New Roman" panose="02020603050405020304" pitchFamily="18" charset="0"/>
                <a:cs typeface="Times New Roman" panose="02020603050405020304" pitchFamily="18" charset="0"/>
              </a:rPr>
              <a:t>*Sentiment analysis is the process of drawing meaning from text</a:t>
            </a:r>
          </a:p>
          <a:p>
            <a:pPr marL="0" indent="0">
              <a:buNone/>
            </a:pPr>
            <a:r>
              <a:rPr lang="en-US" sz="2800" dirty="0">
                <a:latin typeface="Times New Roman" panose="02020603050405020304" pitchFamily="18" charset="0"/>
                <a:cs typeface="Times New Roman" panose="02020603050405020304" pitchFamily="18" charset="0"/>
              </a:rPr>
              <a:t>*Human language has many words that have different meanings, or any sentence can have different tones like emotional or sarcastic. It is very hard for computers to interpret the meaning of those sentences.</a:t>
            </a:r>
          </a:p>
          <a:p>
            <a:pPr marL="0" indent="0">
              <a:buNone/>
            </a:pPr>
            <a:r>
              <a:rPr lang="en-US" sz="2800" dirty="0">
                <a:latin typeface="Times New Roman" panose="02020603050405020304" pitchFamily="18" charset="0"/>
                <a:cs typeface="Times New Roman" panose="02020603050405020304" pitchFamily="18" charset="0"/>
              </a:rPr>
              <a:t>*Sentiment analysis is a subfield of NLP that helps in understanding the context of any text and understanding the emotions that might be depicted in the sentence.  </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2550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8210-35B1-A4CB-B299-72D4F6389D2A}"/>
              </a:ext>
            </a:extLst>
          </p:cNvPr>
          <p:cNvSpPr>
            <a:spLocks noGrp="1"/>
          </p:cNvSpPr>
          <p:nvPr>
            <p:ph type="title"/>
          </p:nvPr>
        </p:nvSpPr>
        <p:spPr/>
        <p:txBody>
          <a:bodyPr>
            <a:normAutofit/>
          </a:bodyPr>
          <a:lstStyle/>
          <a:p>
            <a:r>
              <a:rPr lang="en-IN" sz="4000" u="sng" dirty="0"/>
              <a:t>LITERATURE SURVEY</a:t>
            </a:r>
          </a:p>
        </p:txBody>
      </p:sp>
      <p:sp>
        <p:nvSpPr>
          <p:cNvPr id="3" name="Content Placeholder 2">
            <a:extLst>
              <a:ext uri="{FF2B5EF4-FFF2-40B4-BE49-F238E27FC236}">
                <a16:creationId xmlns:a16="http://schemas.microsoft.com/office/drawing/2014/main" id="{1D9B02EA-0FF1-430A-CFDF-BA0E96F1F089}"/>
              </a:ext>
            </a:extLst>
          </p:cNvPr>
          <p:cNvSpPr>
            <a:spLocks noGrp="1"/>
          </p:cNvSpPr>
          <p:nvPr>
            <p:ph idx="1"/>
          </p:nvPr>
        </p:nvSpPr>
        <p:spPr>
          <a:xfrm>
            <a:off x="304800" y="1417638"/>
            <a:ext cx="9296400" cy="4708531"/>
          </a:xfrm>
        </p:spPr>
        <p:txBody>
          <a:bodyPr>
            <a:normAutofit/>
          </a:bodyPr>
          <a:lstStyle/>
          <a:p>
            <a:pPr marL="342900" marR="0" lvl="0" indent="-342900" algn="just">
              <a:buFont typeface="+mj-lt"/>
              <a:buAutoNum type="arabicPeriod"/>
            </a:pPr>
            <a:r>
              <a:rPr lang="en-IN" sz="2400" dirty="0">
                <a:effectLst/>
                <a:latin typeface="Times New Roman" panose="02020603050405020304" pitchFamily="18" charset="0"/>
                <a:ea typeface="Times New Roman" panose="02020603050405020304" pitchFamily="18" charset="0"/>
              </a:rPr>
              <a:t>Opinion Mining and sentiment Classification: A survey By S. Chandrakala, </a:t>
            </a:r>
            <a:r>
              <a:rPr lang="en-IN" sz="2400" dirty="0" err="1">
                <a:effectLst/>
                <a:latin typeface="Times New Roman" panose="02020603050405020304" pitchFamily="18" charset="0"/>
                <a:ea typeface="Times New Roman" panose="02020603050405020304" pitchFamily="18" charset="0"/>
              </a:rPr>
              <a:t>Dr.</a:t>
            </a:r>
            <a:r>
              <a:rPr lang="en-IN" sz="2400" dirty="0">
                <a:effectLst/>
                <a:latin typeface="Times New Roman" panose="02020603050405020304" pitchFamily="18" charset="0"/>
                <a:ea typeface="Times New Roman" panose="02020603050405020304" pitchFamily="18" charset="0"/>
              </a:rPr>
              <a:t> Sindhu C in recent year </a:t>
            </a:r>
            <a:r>
              <a:rPr lang="en-IN" sz="2400" dirty="0" err="1">
                <a:effectLst/>
                <a:latin typeface="Times New Roman" panose="02020603050405020304" pitchFamily="18" charset="0"/>
                <a:ea typeface="Times New Roman" panose="02020603050405020304" pitchFamily="18" charset="0"/>
              </a:rPr>
              <a:t>i.e</a:t>
            </a:r>
            <a:r>
              <a:rPr lang="en-IN" sz="2400" dirty="0">
                <a:effectLst/>
                <a:latin typeface="Times New Roman" panose="02020603050405020304" pitchFamily="18" charset="0"/>
                <a:ea typeface="Times New Roman" panose="02020603050405020304" pitchFamily="18" charset="0"/>
              </a:rPr>
              <a:t> 2020:           This survey gives an overview of the efficient techniques, recent advancements and the future research directions in the field of  Sentiment Analysis.</a:t>
            </a:r>
            <a:br>
              <a:rPr lang="en-IN" sz="2400" dirty="0">
                <a:effectLst/>
                <a:latin typeface="Times New Roman" panose="02020603050405020304" pitchFamily="18" charset="0"/>
                <a:ea typeface="Times New Roman" panose="02020603050405020304" pitchFamily="18" charset="0"/>
              </a:rPr>
            </a:br>
            <a:endParaRPr lang="en-US" sz="2400" dirty="0">
              <a:effectLst/>
              <a:latin typeface="Times New Roman" panose="02020603050405020304" pitchFamily="18" charset="0"/>
              <a:ea typeface="Times New Roman" panose="02020603050405020304" pitchFamily="18" charset="0"/>
            </a:endParaRPr>
          </a:p>
          <a:p>
            <a:pPr marL="342900" marR="0" lvl="0" indent="-342900" algn="just">
              <a:buFont typeface="+mj-lt"/>
              <a:buAutoNum type="arabicPeriod"/>
            </a:pPr>
            <a:r>
              <a:rPr lang="en-IN" sz="2400" dirty="0">
                <a:latin typeface="Times New Roman" panose="02020603050405020304" pitchFamily="18" charset="0"/>
                <a:ea typeface="Times New Roman" panose="02020603050405020304" pitchFamily="18" charset="0"/>
              </a:rPr>
              <a:t>Sentiment Analysis in Today’s Trend</a:t>
            </a:r>
            <a:r>
              <a:rPr lang="en-IN" sz="2400" dirty="0">
                <a:effectLst/>
                <a:latin typeface="Times New Roman" panose="02020603050405020304" pitchFamily="18" charset="0"/>
                <a:ea typeface="Times New Roman" panose="02020603050405020304" pitchFamily="18" charset="0"/>
              </a:rPr>
              <a:t>: This survey is presented by Surendra Kumar, D. Kumar, D. </a:t>
            </a:r>
            <a:r>
              <a:rPr lang="en-IN" sz="2400" dirty="0" err="1">
                <a:effectLst/>
                <a:latin typeface="Times New Roman" panose="02020603050405020304" pitchFamily="18" charset="0"/>
                <a:ea typeface="Times New Roman" panose="02020603050405020304" pitchFamily="18" charset="0"/>
              </a:rPr>
              <a:t>Kalita</a:t>
            </a:r>
            <a:r>
              <a:rPr lang="en-IN" sz="2400" dirty="0">
                <a:latin typeface="Times New Roman" panose="02020603050405020304" pitchFamily="18" charset="0"/>
                <a:ea typeface="Times New Roman" panose="02020603050405020304" pitchFamily="18" charset="0"/>
              </a:rPr>
              <a:t> in year 2018:      </a:t>
            </a:r>
            <a:r>
              <a:rPr lang="en-IN" sz="2400" dirty="0">
                <a:effectLst/>
                <a:latin typeface="Times New Roman" panose="02020603050405020304" pitchFamily="18" charset="0"/>
                <a:ea typeface="Times New Roman" panose="02020603050405020304" pitchFamily="18" charset="0"/>
              </a:rPr>
              <a:t> This survey paper </a:t>
            </a:r>
            <a:r>
              <a:rPr lang="en-IN" sz="2400" dirty="0">
                <a:latin typeface="Times New Roman" panose="02020603050405020304" pitchFamily="18" charset="0"/>
                <a:ea typeface="Times New Roman" panose="02020603050405020304" pitchFamily="18" charset="0"/>
              </a:rPr>
              <a:t>has presented an elaborative hierarchy of sentiment analysis techniques and sub – techniques or mechanisms and algorithms along with their pros and cons.</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15482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E50AFF4-88C5-034B-A124-02477DC2A485}"/>
              </a:ext>
            </a:extLst>
          </p:cNvPr>
          <p:cNvSpPr txBox="1">
            <a:spLocks/>
          </p:cNvSpPr>
          <p:nvPr/>
        </p:nvSpPr>
        <p:spPr>
          <a:xfrm>
            <a:off x="304800" y="1417638"/>
            <a:ext cx="9296400" cy="4708531"/>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IN" sz="2400" dirty="0">
                <a:latin typeface="Times New Roman" panose="02020603050405020304" pitchFamily="18" charset="0"/>
                <a:ea typeface="Times New Roman" panose="02020603050405020304" pitchFamily="18" charset="0"/>
              </a:rPr>
              <a:t>3. An analysis and discussion of Human Sentiment Based on social network Information: A survey By S. Chatterjee in 2020:     This paper looks at the various aspects of study of feelings and their effect on the power of social platform like twitter, </a:t>
            </a:r>
            <a:r>
              <a:rPr lang="en-IN" sz="2400" dirty="0" err="1">
                <a:latin typeface="Times New Roman" panose="02020603050405020304" pitchFamily="18" charset="0"/>
                <a:ea typeface="Times New Roman" panose="02020603050405020304" pitchFamily="18" charset="0"/>
              </a:rPr>
              <a:t>facebook</a:t>
            </a:r>
            <a:r>
              <a:rPr lang="en-IN" sz="2400" dirty="0">
                <a:latin typeface="Times New Roman" panose="02020603050405020304" pitchFamily="18" charset="0"/>
                <a:ea typeface="Times New Roman" panose="02020603050405020304" pitchFamily="18" charset="0"/>
              </a:rPr>
              <a:t>, Instagram , </a:t>
            </a:r>
            <a:r>
              <a:rPr lang="en-IN" sz="2400" dirty="0" err="1">
                <a:latin typeface="Times New Roman" panose="02020603050405020304" pitchFamily="18" charset="0"/>
                <a:ea typeface="Times New Roman" panose="02020603050405020304" pitchFamily="18" charset="0"/>
              </a:rPr>
              <a:t>Youtube</a:t>
            </a:r>
            <a:r>
              <a:rPr lang="en-IN" sz="2400" dirty="0">
                <a:latin typeface="Times New Roman" panose="02020603050405020304" pitchFamily="18" charset="0"/>
                <a:ea typeface="Times New Roman" panose="02020603050405020304" pitchFamily="18" charset="0"/>
              </a:rPr>
              <a:t> etc.</a:t>
            </a:r>
          </a:p>
          <a:p>
            <a:pPr marL="0" indent="0" algn="just">
              <a:buNone/>
            </a:pPr>
            <a:endParaRPr lang="en-US" sz="2400" dirty="0">
              <a:latin typeface="Times New Roman" panose="02020603050405020304" pitchFamily="18" charset="0"/>
              <a:ea typeface="Times New Roman" panose="02020603050405020304" pitchFamily="18" charset="0"/>
            </a:endParaRPr>
          </a:p>
          <a:p>
            <a:pPr marL="0" indent="0" algn="just">
              <a:buNone/>
            </a:pPr>
            <a:r>
              <a:rPr lang="en-IN" sz="2400" dirty="0">
                <a:latin typeface="Times New Roman" panose="02020603050405020304" pitchFamily="18" charset="0"/>
                <a:ea typeface="Times New Roman" panose="02020603050405020304" pitchFamily="18" charset="0"/>
              </a:rPr>
              <a:t>4. A simple proposal for sentiment analysis on Movies reviews with Hidden Markov Models: This survey is presented by B. Peralta, Victor </a:t>
            </a:r>
            <a:r>
              <a:rPr lang="en-IN" sz="2400" dirty="0" err="1">
                <a:latin typeface="Times New Roman" panose="02020603050405020304" pitchFamily="18" charset="0"/>
                <a:ea typeface="Times New Roman" panose="02020603050405020304" pitchFamily="18" charset="0"/>
              </a:rPr>
              <a:t>Tirapegui</a:t>
            </a:r>
            <a:r>
              <a:rPr lang="en-IN" sz="2400" dirty="0">
                <a:latin typeface="Times New Roman" panose="02020603050405020304" pitchFamily="18" charset="0"/>
                <a:ea typeface="Times New Roman" panose="02020603050405020304" pitchFamily="18" charset="0"/>
              </a:rPr>
              <a:t>, C. </a:t>
            </a:r>
            <a:r>
              <a:rPr lang="en-IN" sz="2400" dirty="0" err="1">
                <a:latin typeface="Times New Roman" panose="02020603050405020304" pitchFamily="18" charset="0"/>
                <a:ea typeface="Times New Roman" panose="02020603050405020304" pitchFamily="18" charset="0"/>
              </a:rPr>
              <a:t>Pieringer</a:t>
            </a:r>
            <a:r>
              <a:rPr lang="en-IN" sz="2400" dirty="0">
                <a:latin typeface="Times New Roman" panose="02020603050405020304" pitchFamily="18" charset="0"/>
                <a:ea typeface="Times New Roman" panose="02020603050405020304" pitchFamily="18" charset="0"/>
              </a:rPr>
              <a:t>, L. Caro in 2019:  </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T</a:t>
            </a:r>
            <a:r>
              <a:rPr lang="en-US" sz="2400" i="0" dirty="0">
                <a:effectLst/>
                <a:latin typeface="Times New Roman" panose="02020603050405020304" pitchFamily="18" charset="0"/>
                <a:cs typeface="Times New Roman" panose="02020603050405020304" pitchFamily="18" charset="0"/>
              </a:rPr>
              <a:t>his work proposes the use of Hidden Markov Chains to determine the polarity of the opinions expressed on movie reviews through clustering techniques and carries out a sensitivity analysis of the model.</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4667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4379E-6539-7B16-0AB8-5E9C700A7CC0}"/>
              </a:ext>
            </a:extLst>
          </p:cNvPr>
          <p:cNvSpPr>
            <a:spLocks noGrp="1"/>
          </p:cNvSpPr>
          <p:nvPr>
            <p:ph type="title"/>
          </p:nvPr>
        </p:nvSpPr>
        <p:spPr/>
        <p:txBody>
          <a:bodyPr>
            <a:normAutofit/>
          </a:bodyPr>
          <a:lstStyle/>
          <a:p>
            <a:r>
              <a:rPr lang="en-IN" sz="4000" u="sng" dirty="0"/>
              <a:t>PROBLEM STATEMENT</a:t>
            </a:r>
          </a:p>
        </p:txBody>
      </p:sp>
      <p:sp>
        <p:nvSpPr>
          <p:cNvPr id="3" name="Content Placeholder 2">
            <a:extLst>
              <a:ext uri="{FF2B5EF4-FFF2-40B4-BE49-F238E27FC236}">
                <a16:creationId xmlns:a16="http://schemas.microsoft.com/office/drawing/2014/main" id="{5A0B5CBC-FA09-F6A0-9AF1-519E92DDC7B4}"/>
              </a:ext>
            </a:extLst>
          </p:cNvPr>
          <p:cNvSpPr>
            <a:spLocks noGrp="1"/>
          </p:cNvSpPr>
          <p:nvPr>
            <p:ph idx="1"/>
          </p:nvPr>
        </p:nvSpPr>
        <p:spPr/>
        <p:txBody>
          <a:bodyPr>
            <a:normAutofit/>
          </a:bodyPr>
          <a:lstStyle/>
          <a:p>
            <a:pPr marL="0" indent="0" algn="just">
              <a:buNone/>
            </a:pPr>
            <a:r>
              <a:rPr lang="en-US" dirty="0">
                <a:effectLst/>
                <a:latin typeface="Times New Roman" panose="02020603050405020304" pitchFamily="18" charset="0"/>
                <a:cs typeface="Times New Roman" panose="02020603050405020304" pitchFamily="18" charset="0"/>
              </a:rPr>
              <a:t>A basic task in sentiment analysis is classifying the polarity of a given text at the document, sentence, or feature/aspect level — whether the expressed opinion in a document, a sentence or an entity feature/aspect is positive, negative, or neutral.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5386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395E3-0FF1-A789-1AB4-ECFC9A6E63DB}"/>
              </a:ext>
            </a:extLst>
          </p:cNvPr>
          <p:cNvSpPr>
            <a:spLocks noGrp="1"/>
          </p:cNvSpPr>
          <p:nvPr>
            <p:ph type="title"/>
          </p:nvPr>
        </p:nvSpPr>
        <p:spPr/>
        <p:txBody>
          <a:bodyPr>
            <a:normAutofit/>
          </a:bodyPr>
          <a:lstStyle/>
          <a:p>
            <a:r>
              <a:rPr lang="en-IN" sz="4000" u="sng" dirty="0"/>
              <a:t>OBJECTIVES</a:t>
            </a:r>
          </a:p>
        </p:txBody>
      </p:sp>
      <p:sp>
        <p:nvSpPr>
          <p:cNvPr id="3" name="Content Placeholder 2">
            <a:extLst>
              <a:ext uri="{FF2B5EF4-FFF2-40B4-BE49-F238E27FC236}">
                <a16:creationId xmlns:a16="http://schemas.microsoft.com/office/drawing/2014/main" id="{6CCBD364-9D74-B7F0-DAA6-EFF37A338579}"/>
              </a:ext>
            </a:extLst>
          </p:cNvPr>
          <p:cNvSpPr>
            <a:spLocks noGrp="1"/>
          </p:cNvSpPr>
          <p:nvPr>
            <p:ph idx="1"/>
          </p:nvPr>
        </p:nvSpPr>
        <p:spPr>
          <a:xfrm>
            <a:off x="495300" y="1143000"/>
            <a:ext cx="8915400" cy="4971197"/>
          </a:xfrm>
        </p:spPr>
        <p:txBody>
          <a:bodyPr>
            <a:normAutofit fontScale="62500" lnSpcReduction="20000"/>
          </a:bodyPr>
          <a:lstStyle/>
          <a:p>
            <a:pPr marL="0" marR="0" algn="just">
              <a:lnSpc>
                <a:spcPct val="107000"/>
              </a:lnSpc>
              <a:spcBef>
                <a:spcPts val="0"/>
              </a:spcBef>
              <a:spcAft>
                <a:spcPts val="800"/>
              </a:spcAft>
            </a:pPr>
            <a:r>
              <a:rPr lang="en-IN" sz="3800" dirty="0">
                <a:effectLst/>
                <a:latin typeface="Times New Roman" panose="02020603050405020304" pitchFamily="18" charset="0"/>
                <a:ea typeface="Times New Roman" panose="02020603050405020304" pitchFamily="18" charset="0"/>
                <a:cs typeface="Times New Roman" panose="02020603050405020304" pitchFamily="18" charset="0"/>
              </a:rPr>
              <a:t>The main objective of this project is to detect the emotion being expressed by the given image. With the emergence of the Internet, web, and mobile technologies, people have changed their way of consuming content. As social media and the internet grows in both size and importance, becoming an integral part of daily life, it is a vital new area of social concern. Sentiment analysis (or opinion mining) is a natural language processing (NLP) technique used to determine whether data is positive, negative, or neutral. Sentiment analysis is often performed on textual data to help businesses monitor brand and product sentiment in customer feedback, and understand customer needs.</a:t>
            </a:r>
            <a:endParaRPr lang="en-US" sz="3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l" fontAlgn="base">
              <a:buNone/>
            </a:pPr>
            <a:endParaRPr lang="en-US" sz="3200" b="0" i="0" dirty="0">
              <a:solidFill>
                <a:srgbClr val="0D0D0D"/>
              </a:solidFill>
              <a:effectLst/>
              <a:latin typeface="Times New Roman" panose="02020603050405020304" pitchFamily="18" charset="0"/>
              <a:cs typeface="Times New Roman" panose="02020603050405020304" pitchFamily="18" charset="0"/>
            </a:endParaRPr>
          </a:p>
          <a:p>
            <a:pPr marL="0" indent="0">
              <a:buNone/>
            </a:pPr>
            <a:r>
              <a:rPr lang="en-US" sz="3800" i="0" dirty="0">
                <a:effectLst/>
                <a:latin typeface="Times New Roman" panose="02020603050405020304" pitchFamily="18" charset="0"/>
                <a:cs typeface="Times New Roman" panose="02020603050405020304" pitchFamily="18" charset="0"/>
              </a:rPr>
              <a:t>The purpose of sentiment analysis is to draw </a:t>
            </a:r>
            <a:r>
              <a:rPr lang="en-US" sz="3800" dirty="0">
                <a:latin typeface="Times New Roman" panose="02020603050405020304" pitchFamily="18" charset="0"/>
                <a:cs typeface="Times New Roman" panose="02020603050405020304" pitchFamily="18" charset="0"/>
              </a:rPr>
              <a:t>overall</a:t>
            </a:r>
            <a:r>
              <a:rPr lang="en-US" sz="3800" i="0" dirty="0">
                <a:effectLst/>
                <a:latin typeface="Times New Roman" panose="02020603050405020304" pitchFamily="18" charset="0"/>
                <a:cs typeface="Times New Roman" panose="02020603050405020304" pitchFamily="18" charset="0"/>
              </a:rPr>
              <a:t> meaning, or you can say dictionary meaning from the text. The work of sentiment analyzer is to check the text for meaningfulness</a:t>
            </a:r>
            <a:r>
              <a:rPr lang="en-US" sz="3800" b="1" i="0" dirty="0">
                <a:solidFill>
                  <a:schemeClr val="tx2">
                    <a:lumMod val="60000"/>
                    <a:lumOff val="40000"/>
                  </a:schemeClr>
                </a:solidFill>
                <a:effectLst/>
                <a:latin typeface="Times New Roman" panose="02020603050405020304" pitchFamily="18" charset="0"/>
                <a:cs typeface="Times New Roman" panose="02020603050405020304" pitchFamily="18" charset="0"/>
              </a:rPr>
              <a:t>.</a:t>
            </a:r>
            <a:br>
              <a:rPr lang="en-US" sz="3800" b="1" i="0" dirty="0">
                <a:solidFill>
                  <a:schemeClr val="tx2">
                    <a:lumMod val="60000"/>
                    <a:lumOff val="40000"/>
                  </a:schemeClr>
                </a:solidFill>
                <a:effectLst/>
                <a:latin typeface="Times New Roman" panose="02020603050405020304" pitchFamily="18" charset="0"/>
                <a:cs typeface="Times New Roman" panose="02020603050405020304" pitchFamily="18" charset="0"/>
              </a:rPr>
            </a:br>
            <a:endParaRPr lang="en-IN" sz="3800" b="1" dirty="0">
              <a:solidFill>
                <a:schemeClr val="tx2">
                  <a:lumMod val="60000"/>
                  <a:lumOff val="40000"/>
                </a:schemeClr>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8391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18061-CF97-76E8-F90E-68FD76F3DB99}"/>
              </a:ext>
            </a:extLst>
          </p:cNvPr>
          <p:cNvSpPr>
            <a:spLocks noGrp="1"/>
          </p:cNvSpPr>
          <p:nvPr>
            <p:ph type="title"/>
          </p:nvPr>
        </p:nvSpPr>
        <p:spPr/>
        <p:txBody>
          <a:bodyPr>
            <a:normAutofit/>
          </a:bodyPr>
          <a:lstStyle/>
          <a:p>
            <a:r>
              <a:rPr lang="en-IN" sz="4000" u="sng" dirty="0"/>
              <a:t>METHODOLOGY/WORKING</a:t>
            </a:r>
          </a:p>
        </p:txBody>
      </p:sp>
      <p:sp>
        <p:nvSpPr>
          <p:cNvPr id="13" name="Rectangle 7">
            <a:extLst>
              <a:ext uri="{FF2B5EF4-FFF2-40B4-BE49-F238E27FC236}">
                <a16:creationId xmlns:a16="http://schemas.microsoft.com/office/drawing/2014/main" id="{0FBF777A-B329-C603-8194-CE90B063ACCE}"/>
              </a:ext>
            </a:extLst>
          </p:cNvPr>
          <p:cNvSpPr>
            <a:spLocks noChangeArrowheads="1"/>
          </p:cNvSpPr>
          <p:nvPr/>
        </p:nvSpPr>
        <p:spPr bwMode="auto">
          <a:xfrm>
            <a:off x="-471416" y="304805"/>
            <a:ext cx="990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2">
            <a:extLst>
              <a:ext uri="{FF2B5EF4-FFF2-40B4-BE49-F238E27FC236}">
                <a16:creationId xmlns:a16="http://schemas.microsoft.com/office/drawing/2014/main" id="{85CA6334-932A-861B-C678-41A122348905}"/>
              </a:ext>
            </a:extLst>
          </p:cNvPr>
          <p:cNvSpPr>
            <a:spLocks noChangeArrowheads="1"/>
          </p:cNvSpPr>
          <p:nvPr/>
        </p:nvSpPr>
        <p:spPr bwMode="auto">
          <a:xfrm>
            <a:off x="-471416" y="762005"/>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Rounded Corners 1">
            <a:extLst>
              <a:ext uri="{FF2B5EF4-FFF2-40B4-BE49-F238E27FC236}">
                <a16:creationId xmlns:a16="http://schemas.microsoft.com/office/drawing/2014/main" id="{FC2727A0-DE6B-74C2-C1CA-E23CB9C45B5D}"/>
              </a:ext>
            </a:extLst>
          </p:cNvPr>
          <p:cNvSpPr>
            <a:spLocks noChangeArrowheads="1"/>
          </p:cNvSpPr>
          <p:nvPr/>
        </p:nvSpPr>
        <p:spPr bwMode="auto">
          <a:xfrm>
            <a:off x="2674975" y="1630798"/>
            <a:ext cx="1143000" cy="1055092"/>
          </a:xfrm>
          <a:prstGeom prst="roundRect">
            <a:avLst>
              <a:gd name="adj" fmla="val 1666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Pre-processing &amp;</a:t>
            </a:r>
            <a:b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Text Detection</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6" name="Rectangle: Rounded Corners 2">
            <a:extLst>
              <a:ext uri="{FF2B5EF4-FFF2-40B4-BE49-F238E27FC236}">
                <a16:creationId xmlns:a16="http://schemas.microsoft.com/office/drawing/2014/main" id="{3361E123-CF48-34A3-8F57-AEA567CAC6EB}"/>
              </a:ext>
            </a:extLst>
          </p:cNvPr>
          <p:cNvSpPr>
            <a:spLocks noChangeArrowheads="1"/>
          </p:cNvSpPr>
          <p:nvPr/>
        </p:nvSpPr>
        <p:spPr bwMode="auto">
          <a:xfrm>
            <a:off x="4137062" y="1747961"/>
            <a:ext cx="1323975" cy="896653"/>
          </a:xfrm>
          <a:prstGeom prst="roundRect">
            <a:avLst>
              <a:gd name="adj" fmla="val 1666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Text Recognition &amp; Filter out Text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7" name="Rectangle: Rounded Corners 3">
            <a:extLst>
              <a:ext uri="{FF2B5EF4-FFF2-40B4-BE49-F238E27FC236}">
                <a16:creationId xmlns:a16="http://schemas.microsoft.com/office/drawing/2014/main" id="{7988A508-3EDB-7826-B6BA-0650F715FC1C}"/>
              </a:ext>
            </a:extLst>
          </p:cNvPr>
          <p:cNvSpPr>
            <a:spLocks noChangeArrowheads="1"/>
          </p:cNvSpPr>
          <p:nvPr/>
        </p:nvSpPr>
        <p:spPr bwMode="auto">
          <a:xfrm>
            <a:off x="5729325" y="1884203"/>
            <a:ext cx="1009650" cy="747712"/>
          </a:xfrm>
          <a:prstGeom prst="roundRect">
            <a:avLst>
              <a:gd name="adj" fmla="val 1666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Sentiment Analysis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cxnSp>
        <p:nvCxnSpPr>
          <p:cNvPr id="18" name="Straight Arrow Connector 17">
            <a:extLst>
              <a:ext uri="{FF2B5EF4-FFF2-40B4-BE49-F238E27FC236}">
                <a16:creationId xmlns:a16="http://schemas.microsoft.com/office/drawing/2014/main" id="{C9D80DDB-7F76-E425-F98F-C282F882535E}"/>
              </a:ext>
            </a:extLst>
          </p:cNvPr>
          <p:cNvCxnSpPr/>
          <p:nvPr/>
        </p:nvCxnSpPr>
        <p:spPr>
          <a:xfrm>
            <a:off x="6833907" y="2258059"/>
            <a:ext cx="59436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Text Box 11">
            <a:extLst>
              <a:ext uri="{FF2B5EF4-FFF2-40B4-BE49-F238E27FC236}">
                <a16:creationId xmlns:a16="http://schemas.microsoft.com/office/drawing/2014/main" id="{FCEDD2FF-D312-50A9-039B-2EE327D3F20B}"/>
              </a:ext>
            </a:extLst>
          </p:cNvPr>
          <p:cNvSpPr txBox="1">
            <a:spLocks noChangeArrowheads="1"/>
          </p:cNvSpPr>
          <p:nvPr/>
        </p:nvSpPr>
        <p:spPr bwMode="auto">
          <a:xfrm>
            <a:off x="1818202" y="1938037"/>
            <a:ext cx="761841" cy="284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Image</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20" name="Text Box 12">
            <a:extLst>
              <a:ext uri="{FF2B5EF4-FFF2-40B4-BE49-F238E27FC236}">
                <a16:creationId xmlns:a16="http://schemas.microsoft.com/office/drawing/2014/main" id="{4DC839F0-7D17-04B3-4D88-045F0A35CDFD}"/>
              </a:ext>
            </a:extLst>
          </p:cNvPr>
          <p:cNvSpPr txBox="1">
            <a:spLocks noChangeArrowheads="1"/>
          </p:cNvSpPr>
          <p:nvPr/>
        </p:nvSpPr>
        <p:spPr bwMode="auto">
          <a:xfrm>
            <a:off x="6688175" y="1928653"/>
            <a:ext cx="88582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Emotion</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cxnSp>
        <p:nvCxnSpPr>
          <p:cNvPr id="21" name="Straight Arrow Connector 20">
            <a:extLst>
              <a:ext uri="{FF2B5EF4-FFF2-40B4-BE49-F238E27FC236}">
                <a16:creationId xmlns:a16="http://schemas.microsoft.com/office/drawing/2014/main" id="{2EEFE2E0-FA2D-1D37-0E30-5BAA76B99DD2}"/>
              </a:ext>
            </a:extLst>
          </p:cNvPr>
          <p:cNvCxnSpPr/>
          <p:nvPr/>
        </p:nvCxnSpPr>
        <p:spPr>
          <a:xfrm>
            <a:off x="2137289" y="2228549"/>
            <a:ext cx="490220" cy="63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2" name="Straight Arrow Connector 21">
            <a:extLst>
              <a:ext uri="{FF2B5EF4-FFF2-40B4-BE49-F238E27FC236}">
                <a16:creationId xmlns:a16="http://schemas.microsoft.com/office/drawing/2014/main" id="{823B849E-EB9E-BFA0-2C93-8D4AAD36BC73}"/>
              </a:ext>
            </a:extLst>
          </p:cNvPr>
          <p:cNvCxnSpPr/>
          <p:nvPr/>
        </p:nvCxnSpPr>
        <p:spPr>
          <a:xfrm>
            <a:off x="3817975" y="2281077"/>
            <a:ext cx="27686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4288FB67-7ABB-8C45-ED9C-46E8BC080C77}"/>
              </a:ext>
            </a:extLst>
          </p:cNvPr>
          <p:cNvCxnSpPr/>
          <p:nvPr/>
        </p:nvCxnSpPr>
        <p:spPr>
          <a:xfrm>
            <a:off x="5461037" y="2258059"/>
            <a:ext cx="27686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4" name="Rectangle 22">
            <a:extLst>
              <a:ext uri="{FF2B5EF4-FFF2-40B4-BE49-F238E27FC236}">
                <a16:creationId xmlns:a16="http://schemas.microsoft.com/office/drawing/2014/main" id="{B898E818-D937-209C-6AAC-3C456AC8BBDC}"/>
              </a:ext>
            </a:extLst>
          </p:cNvPr>
          <p:cNvSpPr>
            <a:spLocks noChangeArrowheads="1"/>
          </p:cNvSpPr>
          <p:nvPr/>
        </p:nvSpPr>
        <p:spPr bwMode="auto">
          <a:xfrm>
            <a:off x="2057400" y="1690220"/>
            <a:ext cx="990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5" name="Rectangle 24">
            <a:extLst>
              <a:ext uri="{FF2B5EF4-FFF2-40B4-BE49-F238E27FC236}">
                <a16:creationId xmlns:a16="http://schemas.microsoft.com/office/drawing/2014/main" id="{EBDEA2A1-32CB-55B7-8BCD-3DD22CA08C65}"/>
              </a:ext>
            </a:extLst>
          </p:cNvPr>
          <p:cNvSpPr>
            <a:spLocks noChangeArrowheads="1"/>
          </p:cNvSpPr>
          <p:nvPr/>
        </p:nvSpPr>
        <p:spPr bwMode="auto">
          <a:xfrm>
            <a:off x="2057400" y="2147420"/>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6" name="Rectangle 29">
            <a:extLst>
              <a:ext uri="{FF2B5EF4-FFF2-40B4-BE49-F238E27FC236}">
                <a16:creationId xmlns:a16="http://schemas.microsoft.com/office/drawing/2014/main" id="{4669F2E0-466B-11DF-EEB7-48F99B453798}"/>
              </a:ext>
            </a:extLst>
          </p:cNvPr>
          <p:cNvSpPr>
            <a:spLocks noChangeArrowheads="1"/>
          </p:cNvSpPr>
          <p:nvPr/>
        </p:nvSpPr>
        <p:spPr bwMode="auto">
          <a:xfrm>
            <a:off x="2057400" y="2147420"/>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7" name="TextBox 26">
            <a:extLst>
              <a:ext uri="{FF2B5EF4-FFF2-40B4-BE49-F238E27FC236}">
                <a16:creationId xmlns:a16="http://schemas.microsoft.com/office/drawing/2014/main" id="{15E00441-0F1A-B643-E0B9-899619ECB061}"/>
              </a:ext>
            </a:extLst>
          </p:cNvPr>
          <p:cNvSpPr txBox="1"/>
          <p:nvPr/>
        </p:nvSpPr>
        <p:spPr>
          <a:xfrm>
            <a:off x="952500" y="3016214"/>
            <a:ext cx="8001000" cy="3629455"/>
          </a:xfrm>
          <a:prstGeom prst="rect">
            <a:avLst/>
          </a:prstGeom>
          <a:noFill/>
        </p:spPr>
        <p:txBody>
          <a:bodyPr wrap="square">
            <a:spAutoFit/>
          </a:bodyPr>
          <a:lstStyle/>
          <a:p>
            <a:pPr marL="0" marR="0" algn="just">
              <a:lnSpc>
                <a:spcPct val="107000"/>
              </a:lnSpc>
              <a:spcBef>
                <a:spcPts val="0"/>
              </a:spcBef>
              <a:spcAft>
                <a:spcPts val="800"/>
              </a:spcAft>
            </a:pPr>
            <a:r>
              <a:rPr lang="en-IN" sz="2400" dirty="0">
                <a:latin typeface="Times New Roman" panose="02020603050405020304" pitchFamily="18" charset="0"/>
                <a:ea typeface="Times New Roman" panose="02020603050405020304" pitchFamily="18" charset="0"/>
                <a:cs typeface="Tunga" panose="020B0502040204020203" pitchFamily="34" charset="0"/>
              </a:rPr>
              <a:t>There are</a:t>
            </a:r>
            <a:r>
              <a:rPr lang="en-IN" sz="2400" dirty="0">
                <a:effectLst/>
                <a:latin typeface="Times New Roman" panose="02020603050405020304" pitchFamily="18" charset="0"/>
                <a:ea typeface="Times New Roman" panose="02020603050405020304" pitchFamily="18" charset="0"/>
                <a:cs typeface="Tunga" panose="020B0502040204020203" pitchFamily="34" charset="0"/>
              </a:rPr>
              <a:t> 3 main processes to detect the emotion of the given image. These processes are executed in order as given below. Pre-processing of the image and Detection of text on the image and getting the region (geometrical points) of the text in the image. Next recognition of the text in those regions. The last step is to analyse the emotion of the obtained text. Here the text obtained from the previous step is filtered for the stop words, punctuations, etc, and emotion, and the result is analysed from the remaining text.</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p:txBody>
      </p:sp>
    </p:spTree>
    <p:extLst>
      <p:ext uri="{BB962C8B-B14F-4D97-AF65-F5344CB8AC3E}">
        <p14:creationId xmlns:p14="http://schemas.microsoft.com/office/powerpoint/2010/main" val="414203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a:extLst>
              <a:ext uri="{FF2B5EF4-FFF2-40B4-BE49-F238E27FC236}">
                <a16:creationId xmlns:a16="http://schemas.microsoft.com/office/drawing/2014/main" id="{0303E27E-1B4C-9B68-16C6-624A7ACDC956}"/>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a:extLst>
              <a:ext uri="{FF2B5EF4-FFF2-40B4-BE49-F238E27FC236}">
                <a16:creationId xmlns:a16="http://schemas.microsoft.com/office/drawing/2014/main" id="{BBCC0465-F285-E4B8-58C6-DA7E7B9017BF}"/>
              </a:ext>
            </a:extLst>
          </p:cNvPr>
          <p:cNvSpPr txBox="1"/>
          <p:nvPr/>
        </p:nvSpPr>
        <p:spPr>
          <a:xfrm>
            <a:off x="908050" y="485743"/>
            <a:ext cx="6216650" cy="523220"/>
          </a:xfrm>
          <a:prstGeom prst="rect">
            <a:avLst/>
          </a:prstGeom>
          <a:noFill/>
        </p:spPr>
        <p:txBody>
          <a:bodyPr wrap="square" rtlCol="0">
            <a:spAutoFit/>
          </a:bodyPr>
          <a:lstStyle/>
          <a:p>
            <a:pPr marL="12700">
              <a:spcBef>
                <a:spcPts val="105"/>
              </a:spcBef>
            </a:pPr>
            <a:r>
              <a:rPr lang="en-US" sz="2800" b="1" u="sng" dirty="0">
                <a:solidFill>
                  <a:srgbClr val="000000"/>
                </a:solidFill>
                <a:latin typeface="Times New Roman"/>
                <a:cs typeface="Times New Roman"/>
              </a:rPr>
              <a:t>Program library and functions used</a:t>
            </a:r>
          </a:p>
        </p:txBody>
      </p:sp>
      <p:sp>
        <p:nvSpPr>
          <p:cNvPr id="9" name="TextBox 8">
            <a:extLst>
              <a:ext uri="{FF2B5EF4-FFF2-40B4-BE49-F238E27FC236}">
                <a16:creationId xmlns:a16="http://schemas.microsoft.com/office/drawing/2014/main" id="{8E46A4E5-FF80-737E-CC30-86A3A3D1E44D}"/>
              </a:ext>
            </a:extLst>
          </p:cNvPr>
          <p:cNvSpPr txBox="1"/>
          <p:nvPr/>
        </p:nvSpPr>
        <p:spPr>
          <a:xfrm>
            <a:off x="908050" y="1295955"/>
            <a:ext cx="4953000" cy="3234283"/>
          </a:xfrm>
          <a:prstGeom prst="rect">
            <a:avLst/>
          </a:prstGeom>
          <a:noFill/>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OpenCV</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nSpc>
                <a:spcPct val="107000"/>
              </a:lnSpc>
              <a:spcBef>
                <a:spcPts val="0"/>
              </a:spcBef>
              <a:spcAft>
                <a:spcPts val="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EAST</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nSpc>
                <a:spcPct val="107000"/>
              </a:lnSpc>
              <a:spcBef>
                <a:spcPts val="0"/>
              </a:spcBef>
              <a:spcAft>
                <a:spcPts val="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Tesseract</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nSpc>
                <a:spcPct val="107000"/>
              </a:lnSpc>
              <a:spcBef>
                <a:spcPts val="0"/>
              </a:spcBef>
              <a:spcAft>
                <a:spcPts val="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Math</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nSpc>
                <a:spcPct val="107000"/>
              </a:lnSpc>
              <a:spcBef>
                <a:spcPts val="0"/>
              </a:spcBef>
              <a:spcAft>
                <a:spcPts val="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OS</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nSpc>
                <a:spcPct val="107000"/>
              </a:lnSpc>
              <a:spcBef>
                <a:spcPts val="0"/>
              </a:spcBef>
              <a:spcAft>
                <a:spcPts val="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VADER</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nSpc>
                <a:spcPct val="107000"/>
              </a:lnSpc>
              <a:spcBef>
                <a:spcPts val="0"/>
              </a:spcBef>
              <a:spcAft>
                <a:spcPts val="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Natural Language Toolkit</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nSpc>
                <a:spcPct val="107000"/>
              </a:lnSpc>
              <a:spcBef>
                <a:spcPts val="0"/>
              </a:spcBef>
              <a:spcAft>
                <a:spcPts val="80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String</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p:txBody>
      </p:sp>
    </p:spTree>
    <p:extLst>
      <p:ext uri="{BB962C8B-B14F-4D97-AF65-F5344CB8AC3E}">
        <p14:creationId xmlns:p14="http://schemas.microsoft.com/office/powerpoint/2010/main" val="2364614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51D0A092-9D10-593B-365E-4B8FDBCE6EDF}"/>
              </a:ext>
            </a:extLst>
          </p:cNvPr>
          <p:cNvSpPr txBox="1"/>
          <p:nvPr/>
        </p:nvSpPr>
        <p:spPr>
          <a:xfrm>
            <a:off x="381000" y="582606"/>
            <a:ext cx="8763000" cy="5773760"/>
          </a:xfrm>
          <a:prstGeom prst="rect">
            <a:avLst/>
          </a:prstGeom>
          <a:noFill/>
        </p:spPr>
        <p:txBody>
          <a:bodyPr wrap="square">
            <a:spAutoFit/>
          </a:bodyPr>
          <a:lstStyle/>
          <a:p>
            <a:pPr marL="0" marR="0" algn="just">
              <a:lnSpc>
                <a:spcPct val="107000"/>
              </a:lnSpc>
              <a:spcBef>
                <a:spcPts val="0"/>
              </a:spcBef>
              <a:spcAft>
                <a:spcPts val="800"/>
              </a:spcAft>
            </a:pPr>
            <a:r>
              <a:rPr lang="en-IN" sz="2800" b="1" dirty="0">
                <a:latin typeface="Times New Roman" panose="02020603050405020304" pitchFamily="18" charset="0"/>
                <a:ea typeface="Times New Roman" panose="02020603050405020304" pitchFamily="18" charset="0"/>
                <a:cs typeface="Tunga" panose="020B0502040204020203" pitchFamily="34" charset="0"/>
              </a:rPr>
              <a:t>OpenCV:</a:t>
            </a:r>
          </a:p>
          <a:p>
            <a:pPr marL="0" marR="0" algn="just">
              <a:lnSpc>
                <a:spcPct val="107000"/>
              </a:lnSpc>
              <a:spcBef>
                <a:spcPts val="0"/>
              </a:spcBef>
              <a:spcAft>
                <a:spcPts val="800"/>
              </a:spcAft>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Computer vision is a process by which we can understand the images and videos how they are stored and how we can manipulate and retrieve data from them. Computer Vision is the base or mostly used for Artificial Intelligence. Computer-Vision is playing a major role in self-driving cars, robotics as well as in photo correction apps. OpenCV (Open-Source Computer Vision Library) is an open-source computer vision and machine learning software library. OpenCV was built to provide a common infrastructure for computer vision applications and to accelerate the use of machine perception in commercial products. OpenCV is the huge open-source library for computer vision, machine learning, and image processing and now it plays a major role in real-time operation which is very important in today’s systems.</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p:txBody>
      </p:sp>
    </p:spTree>
    <p:extLst>
      <p:ext uri="{BB962C8B-B14F-4D97-AF65-F5344CB8AC3E}">
        <p14:creationId xmlns:p14="http://schemas.microsoft.com/office/powerpoint/2010/main" val="3090751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C91ECEB-B0E1-D447-8C23-BF9044A90F49}"/>
              </a:ext>
            </a:extLst>
          </p:cNvPr>
          <p:cNvSpPr txBox="1"/>
          <p:nvPr/>
        </p:nvSpPr>
        <p:spPr>
          <a:xfrm>
            <a:off x="533400" y="609600"/>
            <a:ext cx="8915400" cy="4955203"/>
          </a:xfrm>
          <a:prstGeom prst="rect">
            <a:avLst/>
          </a:prstGeom>
          <a:noFill/>
        </p:spPr>
        <p:txBody>
          <a:bodyPr wrap="square">
            <a:spAutoFit/>
          </a:bodyPr>
          <a:lstStyle/>
          <a:p>
            <a:r>
              <a:rPr lang="en-IN" sz="2800" b="1" dirty="0">
                <a:latin typeface="Times New Roman" panose="02020603050405020304" pitchFamily="18" charset="0"/>
                <a:ea typeface="Times New Roman" panose="02020603050405020304" pitchFamily="18" charset="0"/>
              </a:rPr>
              <a:t>EAST:</a:t>
            </a:r>
          </a:p>
          <a:p>
            <a:r>
              <a:rPr lang="en-IN" sz="2400" dirty="0">
                <a:effectLst/>
                <a:latin typeface="Times New Roman" panose="02020603050405020304" pitchFamily="18" charset="0"/>
                <a:ea typeface="Times New Roman" panose="02020603050405020304" pitchFamily="18" charset="0"/>
              </a:rPr>
              <a:t>EAST is a deep learning-based algorithm (EAST) that detects text with a single neural network with the elimination of multi-stage approaches. It translates to an Efficient Accurate Scene Text Detector. The key component in this proposed algorithm is a neural network model, which is trained to directly predict the existence of text instances and their geometries from full images. Also, since this model has been designed as a fully convolutional neural network adapted for text detection, it outputs dense per-pixel predictions of words or text lines thus eliminating the need for intermediate steps which were there in traditional models. The key component in this proposed algorithm is a neural network model, which is trained to directly predict the existence of text instances and their geometries from full images.</a:t>
            </a:r>
          </a:p>
        </p:txBody>
      </p:sp>
    </p:spTree>
    <p:extLst>
      <p:ext uri="{BB962C8B-B14F-4D97-AF65-F5344CB8AC3E}">
        <p14:creationId xmlns:p14="http://schemas.microsoft.com/office/powerpoint/2010/main" val="1571302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023FF25-1631-EF08-0C6A-62446A20A3A6}"/>
              </a:ext>
            </a:extLst>
          </p:cNvPr>
          <p:cNvSpPr>
            <a:spLocks noChangeArrowheads="1"/>
          </p:cNvSpPr>
          <p:nvPr/>
        </p:nvSpPr>
        <p:spPr bwMode="auto">
          <a:xfrm>
            <a:off x="2438400" y="457200"/>
            <a:ext cx="4760877" cy="68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348" tIns="45720" rIns="123786" bIns="4919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n-IN" altLang="en-US" sz="2000" b="1" i="0" u="none" strike="noStrike" cap="none" normalizeH="0" baseline="0" dirty="0">
                <a:ln>
                  <a:noFill/>
                </a:ln>
                <a:solidFill>
                  <a:srgbClr val="000000"/>
                </a:solidFill>
                <a:effectLst/>
                <a:latin typeface="Arial" panose="020B0604020202020204" pitchFamily="34" charset="0"/>
                <a:ea typeface="Arial" panose="020B0604020202020204" pitchFamily="34" charset="0"/>
                <a:cs typeface="Tunga" panose="020B0502040204020203" pitchFamily="34" charset="0"/>
              </a:rPr>
              <a:t>The EAST deep learning text detector </a:t>
            </a:r>
            <a:endParaRPr kumimoji="0" lang="kn-IN" altLang="en-US" sz="20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Tunga"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n-IN" altLang="en-US" sz="1800" b="0" i="0" u="none" strike="noStrike" cap="none" normalizeH="0" baseline="0" dirty="0">
              <a:ln>
                <a:noFill/>
              </a:ln>
              <a:solidFill>
                <a:schemeClr val="tx1"/>
              </a:solidFill>
              <a:effectLst/>
              <a:latin typeface="Arial" panose="020B0604020202020204" pitchFamily="34" charset="0"/>
            </a:endParaRPr>
          </a:p>
        </p:txBody>
      </p:sp>
      <p:pic>
        <p:nvPicPr>
          <p:cNvPr id="5121" name="Picture 890">
            <a:extLst>
              <a:ext uri="{FF2B5EF4-FFF2-40B4-BE49-F238E27FC236}">
                <a16:creationId xmlns:a16="http://schemas.microsoft.com/office/drawing/2014/main" id="{B8E8F1B4-81C9-6D72-2D69-D7236A5BEA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415441"/>
            <a:ext cx="7866558" cy="491878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5DFEC15-4D51-942D-2B02-826AC79CBBBE}"/>
              </a:ext>
            </a:extLst>
          </p:cNvPr>
          <p:cNvSpPr>
            <a:spLocks noChangeArrowheads="1"/>
          </p:cNvSpPr>
          <p:nvPr/>
        </p:nvSpPr>
        <p:spPr bwMode="auto">
          <a:xfrm>
            <a:off x="0" y="4030663"/>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n-IN" altLang="en-US" sz="12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Tunga" panose="020B0502040204020203" pitchFamily="34" charset="0"/>
              </a:rPr>
              <a:t> </a:t>
            </a:r>
            <a:endParaRPr kumimoji="0" lang="en-US" altLang="en-US"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n-IN" altLang="en-US" sz="1100" b="0" i="0" u="none" strike="noStrike" cap="none" normalizeH="0" baseline="0">
                <a:ln>
                  <a:noFill/>
                </a:ln>
                <a:solidFill>
                  <a:srgbClr val="000000"/>
                </a:solidFill>
                <a:effectLst/>
                <a:latin typeface="Arial" panose="020B0604020202020204" pitchFamily="34" charset="0"/>
                <a:ea typeface="Calibri" panose="020F0502020204030204" pitchFamily="34" charset="0"/>
                <a:cs typeface="Tunga" panose="020B0502040204020203" pitchFamily="34" charset="0"/>
              </a:rPr>
              <a:t> </a:t>
            </a:r>
            <a:endParaRPr kumimoji="0" lang="kn-IN"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4970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06A0D92-D6F9-D2F8-B162-684BEF807FED}"/>
              </a:ext>
            </a:extLst>
          </p:cNvPr>
          <p:cNvSpPr txBox="1"/>
          <p:nvPr/>
        </p:nvSpPr>
        <p:spPr>
          <a:xfrm>
            <a:off x="685800" y="381000"/>
            <a:ext cx="8534400" cy="830997"/>
          </a:xfrm>
          <a:prstGeom prst="rect">
            <a:avLst/>
          </a:prstGeom>
          <a:noFill/>
        </p:spPr>
        <p:txBody>
          <a:bodyPr wrap="square">
            <a:spAutoFit/>
          </a:bodyPr>
          <a:lstStyle/>
          <a:p>
            <a:r>
              <a:rPr lang="en-IN" sz="2400" dirty="0">
                <a:effectLst/>
                <a:latin typeface="Times New Roman" panose="02020603050405020304" pitchFamily="18" charset="0"/>
                <a:ea typeface="Times New Roman" panose="02020603050405020304" pitchFamily="18" charset="0"/>
              </a:rPr>
              <a:t>EAST has 3 layers which are Feature Extractor Stem, Feature Merging Branch, and Output Layer:</a:t>
            </a:r>
            <a:endParaRPr lang="en-US" sz="2400" dirty="0"/>
          </a:p>
        </p:txBody>
      </p:sp>
      <p:sp>
        <p:nvSpPr>
          <p:cNvPr id="6" name="TextBox 5">
            <a:extLst>
              <a:ext uri="{FF2B5EF4-FFF2-40B4-BE49-F238E27FC236}">
                <a16:creationId xmlns:a16="http://schemas.microsoft.com/office/drawing/2014/main" id="{DEDD818B-B6DF-493D-A305-D463AE07AD4A}"/>
              </a:ext>
            </a:extLst>
          </p:cNvPr>
          <p:cNvSpPr txBox="1"/>
          <p:nvPr/>
        </p:nvSpPr>
        <p:spPr>
          <a:xfrm>
            <a:off x="381000" y="804459"/>
            <a:ext cx="9144000" cy="5777094"/>
          </a:xfrm>
          <a:prstGeom prst="rect">
            <a:avLst/>
          </a:prstGeom>
          <a:noFill/>
        </p:spPr>
        <p:txBody>
          <a:bodyPr wrap="square">
            <a:spAutoFit/>
          </a:bodyPr>
          <a:lstStyle/>
          <a:p>
            <a:pPr marL="0" marR="0" algn="ctr">
              <a:lnSpc>
                <a:spcPct val="107000"/>
              </a:lnSpc>
              <a:spcBef>
                <a:spcPts val="0"/>
              </a:spcBef>
              <a:spcAft>
                <a:spcPts val="800"/>
              </a:spcAft>
            </a:pPr>
            <a:r>
              <a:rPr lang="en-IN" sz="2000" dirty="0">
                <a:effectLst/>
                <a:latin typeface="Times New Roman" panose="02020603050405020304" pitchFamily="18" charset="0"/>
                <a:ea typeface="Times New Roman" panose="02020603050405020304" pitchFamily="18" charset="0"/>
                <a:cs typeface="Tunga" panose="020B0502040204020203" pitchFamily="34" charset="0"/>
              </a:rPr>
              <a:t> </a:t>
            </a:r>
            <a:endParaRPr lang="en-US" sz="20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gn="just">
              <a:lnSpc>
                <a:spcPct val="107000"/>
              </a:lnSpc>
              <a:spcBef>
                <a:spcPts val="0"/>
              </a:spcBef>
              <a:spcAft>
                <a:spcPts val="0"/>
              </a:spcAft>
              <a:buFont typeface="Symbol" panose="05050102010706020507" pitchFamily="18" charset="2"/>
              <a:buChar char=""/>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Feature Extractor Stem – It is used to extract features from different layers of the network. Within this, the stem can be a convolutional network pre-trained on ImageNet dataset, with interleaving convolution and pooling layers. As we can see in the diagram, four levels of feature maps, denoted as f1, f2, f3, and f4 are extracted from the stem.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Feature Merging Branch – This branch of the EAST network merges the feature outputs from a different layer of the VGG16 network. The input image is passed through the VGG16 model and outputs from different four layers of VGG16 are taken and then feature maps are merged using U-net architecture. So, h1, h2, h3, and h4 are the merged feature maps.</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07000"/>
              </a:lnSpc>
              <a:spcBef>
                <a:spcPts val="0"/>
              </a:spcBef>
              <a:spcAft>
                <a:spcPts val="800"/>
              </a:spcAft>
              <a:buFont typeface="Symbol" panose="05050102010706020507" pitchFamily="18" charset="2"/>
              <a:buChar char=""/>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Output Layer – The output layer consists of a score map and a geometry map. The score map tells us the probability of text in that region while the geometry map defines the boundary of the text box. This geometry map can be either an RBOX also called a rotated box or a QUAD which is a quadrangle. A rotated box consists of top-left coordinate, width, height and rotation angle for the text box. While quadrangle consists of all four coordinates of a rectangle.</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9521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D4F50E-2AC8-3689-0E91-318F112BF332}"/>
              </a:ext>
            </a:extLst>
          </p:cNvPr>
          <p:cNvSpPr txBox="1"/>
          <p:nvPr/>
        </p:nvSpPr>
        <p:spPr>
          <a:xfrm>
            <a:off x="381000" y="457200"/>
            <a:ext cx="9220200" cy="5331203"/>
          </a:xfrm>
          <a:prstGeom prst="rect">
            <a:avLst/>
          </a:prstGeom>
          <a:noFill/>
        </p:spPr>
        <p:txBody>
          <a:bodyPr wrap="square">
            <a:spAutoFit/>
          </a:bodyPr>
          <a:lstStyle/>
          <a:p>
            <a:pPr marL="0" marR="0" algn="just">
              <a:lnSpc>
                <a:spcPct val="107000"/>
              </a:lnSpc>
              <a:spcBef>
                <a:spcPts val="0"/>
              </a:spcBef>
              <a:spcAft>
                <a:spcPts val="800"/>
              </a:spcAft>
            </a:pPr>
            <a:r>
              <a:rPr lang="en-IN" sz="2800" b="1" dirty="0">
                <a:effectLst/>
                <a:latin typeface="Times New Roman" panose="02020603050405020304" pitchFamily="18" charset="0"/>
                <a:ea typeface="Times New Roman" panose="02020603050405020304" pitchFamily="18" charset="0"/>
                <a:cs typeface="Tunga" panose="020B0502040204020203" pitchFamily="34" charset="0"/>
              </a:rPr>
              <a:t>Tesseract</a:t>
            </a:r>
            <a:r>
              <a:rPr lang="en-IN" sz="1800" dirty="0">
                <a:effectLst/>
                <a:latin typeface="Times New Roman" panose="02020603050405020304" pitchFamily="18" charset="0"/>
                <a:ea typeface="Times New Roman" panose="02020603050405020304" pitchFamily="18" charset="0"/>
                <a:cs typeface="Tunga" panose="020B0502040204020203" pitchFamily="34" charset="0"/>
              </a:rPr>
              <a:t> </a:t>
            </a:r>
          </a:p>
          <a:p>
            <a:pPr marL="0" marR="0" algn="just">
              <a:lnSpc>
                <a:spcPct val="107000"/>
              </a:lnSpc>
              <a:spcBef>
                <a:spcPts val="0"/>
              </a:spcBef>
              <a:spcAft>
                <a:spcPts val="800"/>
              </a:spcAft>
            </a:pPr>
            <a:r>
              <a:rPr lang="en-IN" sz="2000" dirty="0">
                <a:effectLst/>
                <a:latin typeface="Times New Roman" panose="02020603050405020304" pitchFamily="18" charset="0"/>
                <a:ea typeface="Times New Roman" panose="02020603050405020304" pitchFamily="18" charset="0"/>
                <a:cs typeface="Tunga" panose="020B0502040204020203" pitchFamily="34" charset="0"/>
              </a:rPr>
              <a:t>Tesseract is an open-source optical character recognition (OCR) platform. OCR extracts text from images and documents without a text layer and outputs the document into a new searchable text file, PDF, or most other popular formats. Tesseract is highly customizable and can operate using most languages, including multilingual documents and vertical text. Although the software can be used on Windows or Linux, this guide will be based on Mac operating systems which is done through the terminal application. It follows following 4 steps for recognizing text.</a:t>
            </a:r>
            <a:endParaRPr lang="en-US" sz="2000" dirty="0">
              <a:effectLst/>
              <a:latin typeface="Calibri" panose="020F0502020204030204" pitchFamily="34" charset="0"/>
              <a:ea typeface="Times New Roman" panose="02020603050405020304" pitchFamily="18" charset="0"/>
              <a:cs typeface="Tunga" panose="020B0502040204020203" pitchFamily="34" charset="0"/>
            </a:endParaRPr>
          </a:p>
          <a:p>
            <a:pPr marL="0" marR="0" algn="just">
              <a:lnSpc>
                <a:spcPct val="107000"/>
              </a:lnSpc>
              <a:spcBef>
                <a:spcPts val="0"/>
              </a:spcBef>
              <a:spcAft>
                <a:spcPts val="800"/>
              </a:spcAft>
            </a:pPr>
            <a:r>
              <a:rPr lang="en-IN" sz="2000" dirty="0">
                <a:effectLst/>
                <a:latin typeface="Times New Roman" panose="02020603050405020304" pitchFamily="18" charset="0"/>
                <a:ea typeface="Times New Roman" panose="02020603050405020304" pitchFamily="18" charset="0"/>
                <a:cs typeface="Tunga" panose="020B0502040204020203" pitchFamily="34" charset="0"/>
              </a:rPr>
              <a:t>Pre-process image data, for example: convert to </a:t>
            </a:r>
            <a:r>
              <a:rPr lang="en-IN" sz="2000" dirty="0" err="1">
                <a:effectLst/>
                <a:latin typeface="Times New Roman" panose="02020603050405020304" pitchFamily="18" charset="0"/>
                <a:ea typeface="Times New Roman" panose="02020603050405020304" pitchFamily="18" charset="0"/>
                <a:cs typeface="Tunga" panose="020B0502040204020203" pitchFamily="34" charset="0"/>
              </a:rPr>
              <a:t>gray</a:t>
            </a:r>
            <a:r>
              <a:rPr lang="en-IN" sz="2000" dirty="0">
                <a:effectLst/>
                <a:latin typeface="Times New Roman" panose="02020603050405020304" pitchFamily="18" charset="0"/>
                <a:ea typeface="Times New Roman" panose="02020603050405020304" pitchFamily="18" charset="0"/>
                <a:cs typeface="Tunga" panose="020B0502040204020203" pitchFamily="34" charset="0"/>
              </a:rPr>
              <a:t> scale, smooth, de-skew, filter.</a:t>
            </a:r>
            <a:endParaRPr lang="en-US" sz="2000" dirty="0">
              <a:effectLst/>
              <a:latin typeface="Calibri" panose="020F0502020204030204" pitchFamily="34" charset="0"/>
              <a:ea typeface="Times New Roman" panose="02020603050405020304" pitchFamily="18" charset="0"/>
              <a:cs typeface="Tunga" panose="020B0502040204020203" pitchFamily="34" charset="0"/>
            </a:endParaRPr>
          </a:p>
          <a:p>
            <a:pPr marL="0" marR="0" algn="just">
              <a:lnSpc>
                <a:spcPct val="107000"/>
              </a:lnSpc>
              <a:spcBef>
                <a:spcPts val="0"/>
              </a:spcBef>
              <a:spcAft>
                <a:spcPts val="800"/>
              </a:spcAft>
            </a:pPr>
            <a:r>
              <a:rPr lang="en-IN" sz="2000" dirty="0">
                <a:effectLst/>
                <a:latin typeface="Times New Roman" panose="02020603050405020304" pitchFamily="18" charset="0"/>
                <a:ea typeface="Times New Roman" panose="02020603050405020304" pitchFamily="18" charset="0"/>
                <a:cs typeface="Tunga" panose="020B0502040204020203" pitchFamily="34" charset="0"/>
              </a:rPr>
              <a:t>Detect lines, words, and characters.</a:t>
            </a:r>
            <a:endParaRPr lang="en-US" sz="2000" dirty="0">
              <a:effectLst/>
              <a:latin typeface="Calibri" panose="020F0502020204030204" pitchFamily="34" charset="0"/>
              <a:ea typeface="Times New Roman" panose="02020603050405020304" pitchFamily="18" charset="0"/>
              <a:cs typeface="Tunga" panose="020B0502040204020203" pitchFamily="34" charset="0"/>
            </a:endParaRPr>
          </a:p>
          <a:p>
            <a:pPr marL="0" marR="0" algn="just">
              <a:lnSpc>
                <a:spcPct val="107000"/>
              </a:lnSpc>
              <a:spcBef>
                <a:spcPts val="0"/>
              </a:spcBef>
              <a:spcAft>
                <a:spcPts val="800"/>
              </a:spcAft>
            </a:pPr>
            <a:r>
              <a:rPr lang="en-IN" sz="2000" dirty="0">
                <a:effectLst/>
                <a:latin typeface="Times New Roman" panose="02020603050405020304" pitchFamily="18" charset="0"/>
                <a:ea typeface="Times New Roman" panose="02020603050405020304" pitchFamily="18" charset="0"/>
                <a:cs typeface="Tunga" panose="020B0502040204020203" pitchFamily="34" charset="0"/>
              </a:rPr>
              <a:t>Produce ranked list of candidate characters based on trained data set. (here the </a:t>
            </a:r>
            <a:r>
              <a:rPr lang="en-IN" sz="2000" dirty="0" err="1">
                <a:effectLst/>
                <a:latin typeface="Times New Roman" panose="02020603050405020304" pitchFamily="18" charset="0"/>
                <a:ea typeface="Times New Roman" panose="02020603050405020304" pitchFamily="18" charset="0"/>
                <a:cs typeface="Tunga" panose="020B0502040204020203" pitchFamily="34" charset="0"/>
              </a:rPr>
              <a:t>setDataPath</a:t>
            </a:r>
            <a:r>
              <a:rPr lang="en-IN" sz="2000" dirty="0">
                <a:effectLst/>
                <a:latin typeface="Times New Roman" panose="02020603050405020304" pitchFamily="18" charset="0"/>
                <a:ea typeface="Times New Roman" panose="02020603050405020304" pitchFamily="18" charset="0"/>
                <a:cs typeface="Tunga" panose="020B0502040204020203" pitchFamily="34" charset="0"/>
              </a:rPr>
              <a:t>() method is used for setting path of trainer data)</a:t>
            </a:r>
            <a:endParaRPr lang="en-US" sz="2000" dirty="0">
              <a:effectLst/>
              <a:latin typeface="Calibri" panose="020F0502020204030204" pitchFamily="34" charset="0"/>
              <a:ea typeface="Times New Roman" panose="02020603050405020304" pitchFamily="18" charset="0"/>
              <a:cs typeface="Tunga" panose="020B0502040204020203" pitchFamily="34" charset="0"/>
            </a:endParaRPr>
          </a:p>
          <a:p>
            <a:pPr marL="0" marR="0" algn="just">
              <a:lnSpc>
                <a:spcPct val="107000"/>
              </a:lnSpc>
              <a:spcBef>
                <a:spcPts val="0"/>
              </a:spcBef>
              <a:spcAft>
                <a:spcPts val="800"/>
              </a:spcAft>
            </a:pPr>
            <a:r>
              <a:rPr lang="en-IN" sz="2000" dirty="0">
                <a:effectLst/>
                <a:latin typeface="Times New Roman" panose="02020603050405020304" pitchFamily="18" charset="0"/>
                <a:ea typeface="Times New Roman" panose="02020603050405020304" pitchFamily="18" charset="0"/>
                <a:cs typeface="Tunga" panose="020B0502040204020203" pitchFamily="34" charset="0"/>
              </a:rPr>
              <a:t>Post process recognized characters, choose best characters based on confidence from previous step and language data. Language data includes dictionary, grammar rules, etc. </a:t>
            </a:r>
            <a:endParaRPr lang="en-US" sz="2000" dirty="0">
              <a:effectLst/>
              <a:latin typeface="Calibri" panose="020F0502020204030204" pitchFamily="34" charset="0"/>
              <a:ea typeface="Times New Roman" panose="02020603050405020304" pitchFamily="18" charset="0"/>
              <a:cs typeface="Tunga" panose="020B0502040204020203" pitchFamily="34" charset="0"/>
            </a:endParaRPr>
          </a:p>
        </p:txBody>
      </p:sp>
    </p:spTree>
    <p:extLst>
      <p:ext uri="{BB962C8B-B14F-4D97-AF65-F5344CB8AC3E}">
        <p14:creationId xmlns:p14="http://schemas.microsoft.com/office/powerpoint/2010/main" val="1040943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ightbox">
            <a:extLst>
              <a:ext uri="{FF2B5EF4-FFF2-40B4-BE49-F238E27FC236}">
                <a16:creationId xmlns:a16="http://schemas.microsoft.com/office/drawing/2014/main" id="{10EAC977-543F-6E96-61D9-837F9E6EEDE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800893"/>
            <a:ext cx="8763000" cy="5397004"/>
          </a:xfrm>
          <a:prstGeom prst="rect">
            <a:avLst/>
          </a:prstGeom>
          <a:noFill/>
          <a:ln>
            <a:noFill/>
          </a:ln>
        </p:spPr>
      </p:pic>
    </p:spTree>
    <p:extLst>
      <p:ext uri="{BB962C8B-B14F-4D97-AF65-F5344CB8AC3E}">
        <p14:creationId xmlns:p14="http://schemas.microsoft.com/office/powerpoint/2010/main" val="3821563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CEEE17-7134-7705-19CB-FD93C22333A3}"/>
              </a:ext>
            </a:extLst>
          </p:cNvPr>
          <p:cNvSpPr txBox="1"/>
          <p:nvPr/>
        </p:nvSpPr>
        <p:spPr>
          <a:xfrm>
            <a:off x="457200" y="685800"/>
            <a:ext cx="8305800" cy="4522392"/>
          </a:xfrm>
          <a:prstGeom prst="rect">
            <a:avLst/>
          </a:prstGeom>
          <a:noFill/>
        </p:spPr>
        <p:txBody>
          <a:bodyPr wrap="square">
            <a:spAutoFit/>
          </a:bodyPr>
          <a:lstStyle/>
          <a:p>
            <a:pPr marL="0" marR="0" algn="just">
              <a:lnSpc>
                <a:spcPct val="107000"/>
              </a:lnSpc>
              <a:spcBef>
                <a:spcPts val="0"/>
              </a:spcBef>
              <a:spcAft>
                <a:spcPts val="800"/>
              </a:spcAft>
            </a:pPr>
            <a:r>
              <a:rPr lang="en-IN" sz="2400" b="1" dirty="0">
                <a:effectLst/>
                <a:latin typeface="Times New Roman" panose="02020603050405020304" pitchFamily="18" charset="0"/>
                <a:ea typeface="Times New Roman" panose="02020603050405020304" pitchFamily="18" charset="0"/>
                <a:cs typeface="Tunga" panose="020B0502040204020203" pitchFamily="34" charset="0"/>
              </a:rPr>
              <a:t>Math module</a:t>
            </a:r>
          </a:p>
          <a:p>
            <a:pPr marL="0" marR="0" algn="just">
              <a:lnSpc>
                <a:spcPct val="107000"/>
              </a:lnSpc>
              <a:spcBef>
                <a:spcPts val="0"/>
              </a:spcBef>
              <a:spcAft>
                <a:spcPts val="800"/>
              </a:spcAft>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The Python Math Library provides us access to some common math functions and constants in Python, which we can use throughout our code for more complex mathematical computations. The library is a built-in Python module, therefore you don't have to do any installation to use it. In this article, we will be showing example usage of the Python Math Library's most commonly used functions and constants. The constants include Pie, Euler’s number, etc. Exponents, Logarithms (log10(), log2()), Arithmetic, Trigonometric, Type Conversion are among most used math library functions.</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p:txBody>
      </p:sp>
    </p:spTree>
    <p:extLst>
      <p:ext uri="{BB962C8B-B14F-4D97-AF65-F5344CB8AC3E}">
        <p14:creationId xmlns:p14="http://schemas.microsoft.com/office/powerpoint/2010/main" val="3325112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269EF2-E1BC-311D-7B90-72722E20DFE8}"/>
              </a:ext>
            </a:extLst>
          </p:cNvPr>
          <p:cNvSpPr txBox="1"/>
          <p:nvPr/>
        </p:nvSpPr>
        <p:spPr>
          <a:xfrm>
            <a:off x="304800" y="533400"/>
            <a:ext cx="9220200" cy="5415329"/>
          </a:xfrm>
          <a:prstGeom prst="rect">
            <a:avLst/>
          </a:prstGeom>
          <a:noFill/>
        </p:spPr>
        <p:txBody>
          <a:bodyPr wrap="square">
            <a:spAutoFit/>
          </a:bodyPr>
          <a:lstStyle/>
          <a:p>
            <a:pPr marL="0" marR="0" algn="just">
              <a:lnSpc>
                <a:spcPct val="107000"/>
              </a:lnSpc>
              <a:spcBef>
                <a:spcPts val="0"/>
              </a:spcBef>
              <a:spcAft>
                <a:spcPts val="800"/>
              </a:spcAft>
            </a:pPr>
            <a:r>
              <a:rPr lang="en-IN" sz="2400" b="1" dirty="0">
                <a:effectLst/>
                <a:latin typeface="Times New Roman" panose="02020603050405020304" pitchFamily="18" charset="0"/>
                <a:ea typeface="Times New Roman" panose="02020603050405020304" pitchFamily="18" charset="0"/>
                <a:cs typeface="Tunga" panose="020B0502040204020203" pitchFamily="34" charset="0"/>
              </a:rPr>
              <a:t>OS module</a:t>
            </a:r>
          </a:p>
          <a:p>
            <a:pPr marL="0" marR="0" algn="just">
              <a:lnSpc>
                <a:spcPct val="107000"/>
              </a:lnSpc>
              <a:spcBef>
                <a:spcPts val="0"/>
              </a:spcBef>
              <a:spcAft>
                <a:spcPts val="800"/>
              </a:spcAft>
            </a:pPr>
            <a:r>
              <a:rPr lang="en-IN" sz="1800" dirty="0">
                <a:effectLst/>
                <a:latin typeface="Times New Roman" panose="02020603050405020304" pitchFamily="18" charset="0"/>
                <a:ea typeface="Times New Roman" panose="02020603050405020304" pitchFamily="18" charset="0"/>
                <a:cs typeface="Tunga" panose="020B0502040204020203" pitchFamily="34" charset="0"/>
              </a:rPr>
              <a:t> </a:t>
            </a:r>
            <a:r>
              <a:rPr lang="en-IN" sz="2400" dirty="0">
                <a:effectLst/>
                <a:latin typeface="Times New Roman" panose="02020603050405020304" pitchFamily="18" charset="0"/>
                <a:ea typeface="Times New Roman" panose="02020603050405020304" pitchFamily="18" charset="0"/>
                <a:cs typeface="Tunga" panose="020B0502040204020203" pitchFamily="34" charset="0"/>
              </a:rPr>
              <a:t>The OS module in Python provides functions for interacting with the operating system. OS comes under Python’s standard utility modules. This module provides a portable way of using operating system-dependent functionality. The *</a:t>
            </a:r>
            <a:r>
              <a:rPr lang="en-IN" sz="2400" dirty="0" err="1">
                <a:effectLst/>
                <a:latin typeface="Times New Roman" panose="02020603050405020304" pitchFamily="18" charset="0"/>
                <a:ea typeface="Times New Roman" panose="02020603050405020304" pitchFamily="18" charset="0"/>
                <a:cs typeface="Tunga" panose="020B0502040204020203" pitchFamily="34" charset="0"/>
              </a:rPr>
              <a:t>os</a:t>
            </a:r>
            <a:r>
              <a:rPr lang="en-IN" sz="2400" dirty="0">
                <a:effectLst/>
                <a:latin typeface="Times New Roman" panose="02020603050405020304" pitchFamily="18" charset="0"/>
                <a:ea typeface="Times New Roman" panose="02020603050405020304" pitchFamily="18" charset="0"/>
                <a:cs typeface="Tunga" panose="020B0502040204020203" pitchFamily="34" charset="0"/>
              </a:rPr>
              <a:t>* and *</a:t>
            </a:r>
            <a:r>
              <a:rPr lang="en-IN" sz="2400" dirty="0" err="1">
                <a:effectLst/>
                <a:latin typeface="Times New Roman" panose="02020603050405020304" pitchFamily="18" charset="0"/>
                <a:ea typeface="Times New Roman" panose="02020603050405020304" pitchFamily="18" charset="0"/>
                <a:cs typeface="Tunga" panose="020B0502040204020203" pitchFamily="34" charset="0"/>
              </a:rPr>
              <a:t>os.path</a:t>
            </a:r>
            <a:r>
              <a:rPr lang="en-IN" sz="2400" dirty="0">
                <a:effectLst/>
                <a:latin typeface="Times New Roman" panose="02020603050405020304" pitchFamily="18" charset="0"/>
                <a:ea typeface="Times New Roman" panose="02020603050405020304" pitchFamily="18" charset="0"/>
                <a:cs typeface="Tunga" panose="020B0502040204020203" pitchFamily="34" charset="0"/>
              </a:rPr>
              <a:t>* modules include many functions to interact with the file system. We are using OS to get list of image files in given directory so that emotions of all the images files can be determined. Commonly used OS functions includes:</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gn="just">
              <a:lnSpc>
                <a:spcPct val="107000"/>
              </a:lnSpc>
              <a:spcBef>
                <a:spcPts val="0"/>
              </a:spcBef>
              <a:spcAft>
                <a:spcPts val="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Getting Current Working Directory</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gn="just">
              <a:lnSpc>
                <a:spcPct val="107000"/>
              </a:lnSpc>
              <a:spcBef>
                <a:spcPts val="0"/>
              </a:spcBef>
              <a:spcAft>
                <a:spcPts val="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Creating a Physical Directory</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gn="just">
              <a:lnSpc>
                <a:spcPct val="107000"/>
              </a:lnSpc>
              <a:spcBef>
                <a:spcPts val="0"/>
              </a:spcBef>
              <a:spcAft>
                <a:spcPts val="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Changing Working Directory</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gn="just">
              <a:lnSpc>
                <a:spcPct val="107000"/>
              </a:lnSpc>
              <a:spcBef>
                <a:spcPts val="0"/>
              </a:spcBef>
              <a:spcAft>
                <a:spcPts val="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Removing Directory</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a:p>
            <a:pPr marL="342900" marR="0" lvl="0" indent="-342900" algn="just">
              <a:lnSpc>
                <a:spcPct val="107000"/>
              </a:lnSpc>
              <a:spcBef>
                <a:spcPts val="0"/>
              </a:spcBef>
              <a:spcAft>
                <a:spcPts val="800"/>
              </a:spcAft>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Listing Files and Directories</a:t>
            </a:r>
            <a:endParaRPr lang="en-US" sz="2400" dirty="0">
              <a:effectLst/>
              <a:latin typeface="Calibri" panose="020F0502020204030204" pitchFamily="34" charset="0"/>
              <a:ea typeface="Times New Roman" panose="02020603050405020304" pitchFamily="18" charset="0"/>
              <a:cs typeface="Tunga" panose="020B0502040204020203" pitchFamily="34" charset="0"/>
            </a:endParaRPr>
          </a:p>
        </p:txBody>
      </p:sp>
    </p:spTree>
    <p:extLst>
      <p:ext uri="{BB962C8B-B14F-4D97-AF65-F5344CB8AC3E}">
        <p14:creationId xmlns:p14="http://schemas.microsoft.com/office/powerpoint/2010/main" val="2823595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0EB2FE-329C-A9D6-7596-8309C1154C37}"/>
              </a:ext>
            </a:extLst>
          </p:cNvPr>
          <p:cNvSpPr txBox="1"/>
          <p:nvPr/>
        </p:nvSpPr>
        <p:spPr>
          <a:xfrm>
            <a:off x="228600" y="609600"/>
            <a:ext cx="9372600" cy="4185889"/>
          </a:xfrm>
          <a:prstGeom prst="rect">
            <a:avLst/>
          </a:prstGeom>
          <a:noFill/>
        </p:spPr>
        <p:txBody>
          <a:bodyPr wrap="square">
            <a:spAutoFit/>
          </a:bodyPr>
          <a:lstStyle/>
          <a:p>
            <a:pPr marL="0" marR="0" algn="just">
              <a:lnSpc>
                <a:spcPct val="107000"/>
              </a:lnSpc>
              <a:spcBef>
                <a:spcPts val="0"/>
              </a:spcBef>
              <a:spcAft>
                <a:spcPts val="800"/>
              </a:spcAft>
            </a:pPr>
            <a:r>
              <a:rPr lang="en-IN" sz="2800" b="1" dirty="0">
                <a:effectLst/>
                <a:latin typeface="Times New Roman" panose="02020603050405020304" pitchFamily="18" charset="0"/>
                <a:ea typeface="Times New Roman" panose="02020603050405020304" pitchFamily="18" charset="0"/>
                <a:cs typeface="Tunga" panose="020B0502040204020203" pitchFamily="34" charset="0"/>
              </a:rPr>
              <a:t>Natural Language Toolkit</a:t>
            </a:r>
          </a:p>
          <a:p>
            <a:pPr marL="0" marR="0" algn="just">
              <a:lnSpc>
                <a:spcPct val="107000"/>
              </a:lnSpc>
              <a:spcBef>
                <a:spcPts val="0"/>
              </a:spcBef>
              <a:spcAft>
                <a:spcPts val="800"/>
              </a:spcAft>
            </a:pPr>
            <a:r>
              <a:rPr lang="en-IN" sz="2400" dirty="0">
                <a:effectLst/>
                <a:latin typeface="Times New Roman" panose="02020603050405020304" pitchFamily="18" charset="0"/>
                <a:ea typeface="Times New Roman" panose="02020603050405020304" pitchFamily="18" charset="0"/>
                <a:cs typeface="Tunga" panose="020B0502040204020203" pitchFamily="34" charset="0"/>
              </a:rPr>
              <a:t>The Natural Language Toolkit (NLTK) is a platform used for building Python programs that work with human language data for applying in statistical natural language processing (NLP). It contains text processing libraries for tokenization, parsing, classification, stemming, tagging and semantic reasoning. It also includes graphical demonstrations and sample data sets as well as accompanied by a cook book and a book which explains the principles behind the underlying language processing tasks that NLTK supports. It was originally developed by Steven Bird, Edward </a:t>
            </a:r>
            <a:r>
              <a:rPr lang="en-IN" sz="2400" dirty="0" err="1">
                <a:effectLst/>
                <a:latin typeface="Times New Roman" panose="02020603050405020304" pitchFamily="18" charset="0"/>
                <a:ea typeface="Times New Roman" panose="02020603050405020304" pitchFamily="18" charset="0"/>
                <a:cs typeface="Tunga" panose="020B0502040204020203" pitchFamily="34" charset="0"/>
              </a:rPr>
              <a:t>Loper</a:t>
            </a:r>
            <a:r>
              <a:rPr lang="en-IN" sz="2400" dirty="0">
                <a:effectLst/>
                <a:latin typeface="Times New Roman" panose="02020603050405020304" pitchFamily="18" charset="0"/>
                <a:ea typeface="Times New Roman" panose="02020603050405020304" pitchFamily="18" charset="0"/>
                <a:cs typeface="Tunga" panose="020B0502040204020203" pitchFamily="34" charset="0"/>
              </a:rPr>
              <a:t> and Ewan Klein for use in development and education.</a:t>
            </a:r>
          </a:p>
        </p:txBody>
      </p:sp>
    </p:spTree>
    <p:extLst>
      <p:ext uri="{BB962C8B-B14F-4D97-AF65-F5344CB8AC3E}">
        <p14:creationId xmlns:p14="http://schemas.microsoft.com/office/powerpoint/2010/main" val="3461699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2">
            <a:extLst>
              <a:ext uri="{FF2B5EF4-FFF2-40B4-BE49-F238E27FC236}">
                <a16:creationId xmlns:a16="http://schemas.microsoft.com/office/drawing/2014/main" id="{3DBAE49B-7F7E-0CB5-B419-00829E7C2029}"/>
              </a:ext>
            </a:extLst>
          </p:cNvPr>
          <p:cNvSpPr>
            <a:spLocks noChangeArrowheads="1"/>
          </p:cNvSpPr>
          <p:nvPr/>
        </p:nvSpPr>
        <p:spPr bwMode="auto">
          <a:xfrm>
            <a:off x="762000" y="1235720"/>
            <a:ext cx="8610600"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It</a:t>
            </a:r>
            <a:r>
              <a:rPr kumimoji="0" lang="en-US" altLang="en-US"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 a built-in module and we have to import it before using any of its constants and classes. The </a:t>
            </a:r>
            <a:r>
              <a:rPr kumimoji="0" lang="en-US" altLang="en-US" sz="24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string</a:t>
            </a: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module contains a number of functions to process standard Python strings. These functions include:</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String Module Constants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string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capwords</a:t>
            </a: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function</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String Module Classes (Formatter, </a:t>
            </a:r>
            <a:r>
              <a:rPr kumimoji="0" lang="en-US" altLang="en-US" sz="24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Template</a:t>
            </a: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We are using string</a:t>
            </a:r>
            <a:r>
              <a:rPr kumimoji="0" lang="en-US" altLang="en-US"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 built-in function get all the punctuations to eliminate them from data obtained to get clean data.</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3824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59DD7-4CCA-9C4B-CD9B-C009CCC116A9}"/>
              </a:ext>
            </a:extLst>
          </p:cNvPr>
          <p:cNvSpPr>
            <a:spLocks noGrp="1"/>
          </p:cNvSpPr>
          <p:nvPr>
            <p:ph type="title"/>
          </p:nvPr>
        </p:nvSpPr>
        <p:spPr>
          <a:xfrm>
            <a:off x="644819" y="81406"/>
            <a:ext cx="8915400" cy="1143000"/>
          </a:xfrm>
        </p:spPr>
        <p:txBody>
          <a:bodyPr>
            <a:normAutofit/>
          </a:bodyPr>
          <a:lstStyle/>
          <a:p>
            <a:pPr algn="l"/>
            <a:r>
              <a:rPr lang="en-IN" sz="3200" u="sng" dirty="0"/>
              <a:t>IMPLEMENTATION/BLOCK DIAGRAM/FLOWCHART</a:t>
            </a:r>
          </a:p>
        </p:txBody>
      </p:sp>
      <p:cxnSp>
        <p:nvCxnSpPr>
          <p:cNvPr id="8" name="Straight Arrow Connector 7">
            <a:extLst>
              <a:ext uri="{FF2B5EF4-FFF2-40B4-BE49-F238E27FC236}">
                <a16:creationId xmlns:a16="http://schemas.microsoft.com/office/drawing/2014/main" id="{4FB311DD-3DCB-56FC-2F9B-55F1D1B074B1}"/>
              </a:ext>
            </a:extLst>
          </p:cNvPr>
          <p:cNvCxnSpPr>
            <a:cxnSpLocks/>
          </p:cNvCxnSpPr>
          <p:nvPr/>
        </p:nvCxnSpPr>
        <p:spPr>
          <a:xfrm>
            <a:off x="2609850" y="1824636"/>
            <a:ext cx="0" cy="29382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a:extLst>
              <a:ext uri="{FF2B5EF4-FFF2-40B4-BE49-F238E27FC236}">
                <a16:creationId xmlns:a16="http://schemas.microsoft.com/office/drawing/2014/main" id="{76523370-FD27-E55A-9B89-5C732B73BAFD}"/>
              </a:ext>
            </a:extLst>
          </p:cNvPr>
          <p:cNvCxnSpPr/>
          <p:nvPr/>
        </p:nvCxnSpPr>
        <p:spPr>
          <a:xfrm>
            <a:off x="2619375" y="2766156"/>
            <a:ext cx="0" cy="2514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B510DAEA-9F9C-F8BC-D2AE-802C966C6094}"/>
              </a:ext>
            </a:extLst>
          </p:cNvPr>
          <p:cNvCxnSpPr/>
          <p:nvPr/>
        </p:nvCxnSpPr>
        <p:spPr>
          <a:xfrm>
            <a:off x="2619375" y="3713259"/>
            <a:ext cx="0" cy="2514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E10954EF-FE61-00D7-2BC8-339871DF8EC0}"/>
              </a:ext>
            </a:extLst>
          </p:cNvPr>
          <p:cNvCxnSpPr/>
          <p:nvPr/>
        </p:nvCxnSpPr>
        <p:spPr>
          <a:xfrm>
            <a:off x="2619375" y="4763866"/>
            <a:ext cx="0" cy="2514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CA86C389-43D6-F556-A1AC-8473CBE1B019}"/>
              </a:ext>
            </a:extLst>
          </p:cNvPr>
          <p:cNvCxnSpPr/>
          <p:nvPr/>
        </p:nvCxnSpPr>
        <p:spPr>
          <a:xfrm>
            <a:off x="2609850" y="5415376"/>
            <a:ext cx="0" cy="2514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6" name="Rectangle: Rounded Corners 92">
            <a:extLst>
              <a:ext uri="{FF2B5EF4-FFF2-40B4-BE49-F238E27FC236}">
                <a16:creationId xmlns:a16="http://schemas.microsoft.com/office/drawing/2014/main" id="{B8C41BE7-A211-CE65-FC7D-EDAA5C9B12E0}"/>
              </a:ext>
            </a:extLst>
          </p:cNvPr>
          <p:cNvSpPr>
            <a:spLocks noChangeArrowheads="1"/>
          </p:cNvSpPr>
          <p:nvPr/>
        </p:nvSpPr>
        <p:spPr bwMode="auto">
          <a:xfrm>
            <a:off x="4169069" y="5578268"/>
            <a:ext cx="1562100" cy="762000"/>
          </a:xfrm>
          <a:prstGeom prst="roundRect">
            <a:avLst>
              <a:gd name="adj" fmla="val 1666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Compare with Dictionary and Tokenize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19" name="Straight Arrow Connector 18">
            <a:extLst>
              <a:ext uri="{FF2B5EF4-FFF2-40B4-BE49-F238E27FC236}">
                <a16:creationId xmlns:a16="http://schemas.microsoft.com/office/drawing/2014/main" id="{906CAAF4-18AA-2A07-EF00-E14EA3EFAEB0}"/>
              </a:ext>
            </a:extLst>
          </p:cNvPr>
          <p:cNvCxnSpPr>
            <a:cxnSpLocks/>
          </p:cNvCxnSpPr>
          <p:nvPr/>
        </p:nvCxnSpPr>
        <p:spPr>
          <a:xfrm flipV="1">
            <a:off x="5790271" y="6013227"/>
            <a:ext cx="762000" cy="2224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8" name="Rectangle: Rounded Corners 94">
            <a:extLst>
              <a:ext uri="{FF2B5EF4-FFF2-40B4-BE49-F238E27FC236}">
                <a16:creationId xmlns:a16="http://schemas.microsoft.com/office/drawing/2014/main" id="{602D2A8C-A52C-1806-8BFE-97AA9C560B40}"/>
              </a:ext>
            </a:extLst>
          </p:cNvPr>
          <p:cNvSpPr>
            <a:spLocks noChangeArrowheads="1"/>
          </p:cNvSpPr>
          <p:nvPr/>
        </p:nvSpPr>
        <p:spPr bwMode="auto">
          <a:xfrm>
            <a:off x="6611373" y="5647181"/>
            <a:ext cx="1562100" cy="517525"/>
          </a:xfrm>
          <a:prstGeom prst="roundRect">
            <a:avLst>
              <a:gd name="adj" fmla="val 1666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Sentiment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5">
            <a:extLst>
              <a:ext uri="{FF2B5EF4-FFF2-40B4-BE49-F238E27FC236}">
                <a16:creationId xmlns:a16="http://schemas.microsoft.com/office/drawing/2014/main" id="{C0BBDB7B-14C3-5869-72CE-ED417A8A3144}"/>
              </a:ext>
            </a:extLst>
          </p:cNvPr>
          <p:cNvSpPr>
            <a:spLocks noChangeArrowheads="1"/>
          </p:cNvSpPr>
          <p:nvPr/>
        </p:nvSpPr>
        <p:spPr bwMode="auto">
          <a:xfrm>
            <a:off x="0" y="457200"/>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Rounded Corners 65">
            <a:extLst>
              <a:ext uri="{FF2B5EF4-FFF2-40B4-BE49-F238E27FC236}">
                <a16:creationId xmlns:a16="http://schemas.microsoft.com/office/drawing/2014/main" id="{CE1D8811-0215-199F-DEB0-56D8D5D11587}"/>
              </a:ext>
            </a:extLst>
          </p:cNvPr>
          <p:cNvSpPr>
            <a:spLocks noChangeArrowheads="1"/>
          </p:cNvSpPr>
          <p:nvPr/>
        </p:nvSpPr>
        <p:spPr bwMode="auto">
          <a:xfrm>
            <a:off x="1828800" y="1205356"/>
            <a:ext cx="1562100" cy="517525"/>
          </a:xfrm>
          <a:prstGeom prst="roundRect">
            <a:avLst>
              <a:gd name="adj" fmla="val 1666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Input Image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Rounded Corners 66">
            <a:extLst>
              <a:ext uri="{FF2B5EF4-FFF2-40B4-BE49-F238E27FC236}">
                <a16:creationId xmlns:a16="http://schemas.microsoft.com/office/drawing/2014/main" id="{A7447BAA-0E2D-B414-72A5-F523B6F37604}"/>
              </a:ext>
            </a:extLst>
          </p:cNvPr>
          <p:cNvSpPr>
            <a:spLocks noChangeArrowheads="1"/>
          </p:cNvSpPr>
          <p:nvPr/>
        </p:nvSpPr>
        <p:spPr bwMode="auto">
          <a:xfrm>
            <a:off x="1828800" y="2081656"/>
            <a:ext cx="1562100" cy="647700"/>
          </a:xfrm>
          <a:prstGeom prst="roundRect">
            <a:avLst>
              <a:gd name="adj" fmla="val 1666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Re-Format Image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Rounded Corners 81">
            <a:extLst>
              <a:ext uri="{FF2B5EF4-FFF2-40B4-BE49-F238E27FC236}">
                <a16:creationId xmlns:a16="http://schemas.microsoft.com/office/drawing/2014/main" id="{FCAD0008-3148-8990-23E0-3241367D7809}"/>
              </a:ext>
            </a:extLst>
          </p:cNvPr>
          <p:cNvSpPr>
            <a:spLocks noChangeArrowheads="1"/>
          </p:cNvSpPr>
          <p:nvPr/>
        </p:nvSpPr>
        <p:spPr bwMode="auto">
          <a:xfrm>
            <a:off x="1828800" y="3032569"/>
            <a:ext cx="1562100" cy="523875"/>
          </a:xfrm>
          <a:prstGeom prst="roundRect">
            <a:avLst>
              <a:gd name="adj" fmla="val 1666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Create Image Blob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Rounded Corners 83">
            <a:extLst>
              <a:ext uri="{FF2B5EF4-FFF2-40B4-BE49-F238E27FC236}">
                <a16:creationId xmlns:a16="http://schemas.microsoft.com/office/drawing/2014/main" id="{AED937B0-D36E-3144-732A-FF827609B83B}"/>
              </a:ext>
            </a:extLst>
          </p:cNvPr>
          <p:cNvSpPr>
            <a:spLocks noChangeArrowheads="1"/>
          </p:cNvSpPr>
          <p:nvPr/>
        </p:nvSpPr>
        <p:spPr bwMode="auto">
          <a:xfrm>
            <a:off x="1838325" y="3927919"/>
            <a:ext cx="1562100" cy="762000"/>
          </a:xfrm>
          <a:prstGeom prst="roundRect">
            <a:avLst>
              <a:gd name="adj" fmla="val 1666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Find ROI through</a:t>
            </a:r>
            <a:endParaRPr kumimoji="0" lang="en-US" altLang="en-US" sz="9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EAST Algorithm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 name="Rectangle: Rounded Corners 88">
            <a:extLst>
              <a:ext uri="{FF2B5EF4-FFF2-40B4-BE49-F238E27FC236}">
                <a16:creationId xmlns:a16="http://schemas.microsoft.com/office/drawing/2014/main" id="{663E8EA1-C814-4B5B-1BEB-3E6897AC1603}"/>
              </a:ext>
            </a:extLst>
          </p:cNvPr>
          <p:cNvSpPr>
            <a:spLocks noChangeArrowheads="1"/>
          </p:cNvSpPr>
          <p:nvPr/>
        </p:nvSpPr>
        <p:spPr bwMode="auto">
          <a:xfrm>
            <a:off x="1828800" y="4978526"/>
            <a:ext cx="1562100" cy="400050"/>
          </a:xfrm>
          <a:prstGeom prst="roundRect">
            <a:avLst>
              <a:gd name="adj" fmla="val 1666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Text Recognition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2" name="Rectangle: Rounded Corners 90">
            <a:extLst>
              <a:ext uri="{FF2B5EF4-FFF2-40B4-BE49-F238E27FC236}">
                <a16:creationId xmlns:a16="http://schemas.microsoft.com/office/drawing/2014/main" id="{0175EC9A-F24E-37B0-2229-B9CF9A650DBE}"/>
              </a:ext>
            </a:extLst>
          </p:cNvPr>
          <p:cNvSpPr>
            <a:spLocks noChangeArrowheads="1"/>
          </p:cNvSpPr>
          <p:nvPr/>
        </p:nvSpPr>
        <p:spPr bwMode="auto">
          <a:xfrm>
            <a:off x="1838325" y="5730668"/>
            <a:ext cx="1562100" cy="609600"/>
          </a:xfrm>
          <a:prstGeom prst="roundRect">
            <a:avLst>
              <a:gd name="adj" fmla="val 16667"/>
            </a:avLst>
          </a:prstGeom>
          <a:solidFill>
            <a:srgbClr val="4472C4"/>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unga" panose="020B0502040204020203" pitchFamily="34" charset="0"/>
              </a:rPr>
              <a:t>Stop words and Punctuation Removal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33" name="Straight Arrow Connector 32">
            <a:extLst>
              <a:ext uri="{FF2B5EF4-FFF2-40B4-BE49-F238E27FC236}">
                <a16:creationId xmlns:a16="http://schemas.microsoft.com/office/drawing/2014/main" id="{4A3DED77-22C5-A559-D2B2-7A7D6A675E5E}"/>
              </a:ext>
            </a:extLst>
          </p:cNvPr>
          <p:cNvCxnSpPr>
            <a:cxnSpLocks/>
          </p:cNvCxnSpPr>
          <p:nvPr/>
        </p:nvCxnSpPr>
        <p:spPr>
          <a:xfrm>
            <a:off x="3505200" y="6013227"/>
            <a:ext cx="53340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41790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811EDE-987E-BFC0-30FB-87DDFAEAFB79}"/>
              </a:ext>
            </a:extLst>
          </p:cNvPr>
          <p:cNvSpPr txBox="1"/>
          <p:nvPr/>
        </p:nvSpPr>
        <p:spPr>
          <a:xfrm>
            <a:off x="609600" y="296197"/>
            <a:ext cx="8610600" cy="2554545"/>
          </a:xfrm>
          <a:prstGeom prst="rect">
            <a:avLst/>
          </a:prstGeom>
          <a:noFill/>
        </p:spPr>
        <p:txBody>
          <a:bodyPr wrap="square">
            <a:spAutoFit/>
          </a:bodyPr>
          <a:lstStyle/>
          <a:p>
            <a:pPr marL="0" marR="0" algn="just"/>
            <a:r>
              <a:rPr lang="en-IN" sz="2000" b="1" dirty="0">
                <a:effectLst/>
                <a:latin typeface="Times New Roman" panose="02020603050405020304" pitchFamily="18" charset="0"/>
                <a:ea typeface="Times New Roman" panose="02020603050405020304" pitchFamily="18" charset="0"/>
              </a:rPr>
              <a:t>Reformat Image</a:t>
            </a:r>
          </a:p>
          <a:p>
            <a:pPr marL="0" marR="0" algn="just"/>
            <a:r>
              <a:rPr lang="en-IN" sz="2000" dirty="0">
                <a:effectLst/>
                <a:latin typeface="Times New Roman" panose="02020603050405020304" pitchFamily="18" charset="0"/>
                <a:ea typeface="Times New Roman" panose="02020603050405020304" pitchFamily="18" charset="0"/>
              </a:rPr>
              <a:t>Changing dimension is an important role in processing image, because one cannot recognise text from any size of photos. The EAST algorithm works better with images with size i.e., width and height which are multiple of 32. Therefore, here we cap large image to 1024 and resize the width and height of image to multiple of 32 using OpenCV through area interpolation method. Also, if the image channel is more than 3 it is converted to 3. This new image data obtained is used for all further processes.</a:t>
            </a:r>
            <a:endParaRPr lang="en-US" sz="20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2EAAF879-EECE-650E-D6A1-BB1F5397F62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7590" y="2850742"/>
            <a:ext cx="2346960" cy="3416647"/>
          </a:xfrm>
          <a:prstGeom prst="rect">
            <a:avLst/>
          </a:prstGeom>
          <a:noFill/>
          <a:ln>
            <a:noFill/>
          </a:ln>
        </p:spPr>
      </p:pic>
      <p:pic>
        <p:nvPicPr>
          <p:cNvPr id="6" name="Picture 5">
            <a:extLst>
              <a:ext uri="{FF2B5EF4-FFF2-40B4-BE49-F238E27FC236}">
                <a16:creationId xmlns:a16="http://schemas.microsoft.com/office/drawing/2014/main" id="{9CEBFD5C-6095-5C90-4C53-724DD838989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47858" y="2927546"/>
            <a:ext cx="2072640" cy="2763520"/>
          </a:xfrm>
          <a:prstGeom prst="rect">
            <a:avLst/>
          </a:prstGeom>
          <a:noFill/>
          <a:ln>
            <a:noFill/>
          </a:ln>
        </p:spPr>
      </p:pic>
      <p:sp>
        <p:nvSpPr>
          <p:cNvPr id="7" name="Arrow: Down 6">
            <a:extLst>
              <a:ext uri="{FF2B5EF4-FFF2-40B4-BE49-F238E27FC236}">
                <a16:creationId xmlns:a16="http://schemas.microsoft.com/office/drawing/2014/main" id="{45A7C559-0D94-C25D-CC6D-82266C8580E9}"/>
              </a:ext>
            </a:extLst>
          </p:cNvPr>
          <p:cNvSpPr/>
          <p:nvPr/>
        </p:nvSpPr>
        <p:spPr>
          <a:xfrm rot="16200000">
            <a:off x="4131737" y="3895172"/>
            <a:ext cx="368935" cy="9588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TextBox 8">
            <a:extLst>
              <a:ext uri="{FF2B5EF4-FFF2-40B4-BE49-F238E27FC236}">
                <a16:creationId xmlns:a16="http://schemas.microsoft.com/office/drawing/2014/main" id="{F5EF3276-3C98-51ED-0208-78847E22B00C}"/>
              </a:ext>
            </a:extLst>
          </p:cNvPr>
          <p:cNvSpPr txBox="1"/>
          <p:nvPr/>
        </p:nvSpPr>
        <p:spPr>
          <a:xfrm>
            <a:off x="2715223" y="6370090"/>
            <a:ext cx="4953000" cy="369332"/>
          </a:xfrm>
          <a:prstGeom prst="rect">
            <a:avLst/>
          </a:prstGeom>
          <a:noFill/>
        </p:spPr>
        <p:txBody>
          <a:bodyPr wrap="square">
            <a:spAutoFit/>
          </a:bodyPr>
          <a:lstStyle/>
          <a:p>
            <a:pPr marL="0" marR="0"/>
            <a:r>
              <a:rPr lang="en-IN" sz="1800" dirty="0">
                <a:effectLst/>
                <a:latin typeface="Times New Roman" panose="02020603050405020304" pitchFamily="18" charset="0"/>
                <a:ea typeface="Times New Roman" panose="02020603050405020304" pitchFamily="18" charset="0"/>
              </a:rPr>
              <a:t>Result: Dimensions are changed.</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65510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0F5608-50F4-0071-2D57-4BF936AB40C2}"/>
              </a:ext>
            </a:extLst>
          </p:cNvPr>
          <p:cNvSpPr txBox="1"/>
          <p:nvPr/>
        </p:nvSpPr>
        <p:spPr>
          <a:xfrm>
            <a:off x="609600" y="792301"/>
            <a:ext cx="8915400" cy="1384995"/>
          </a:xfrm>
          <a:prstGeom prst="rect">
            <a:avLst/>
          </a:prstGeom>
          <a:noFill/>
        </p:spPr>
        <p:txBody>
          <a:bodyPr wrap="square">
            <a:spAutoFit/>
          </a:bodyPr>
          <a:lstStyle/>
          <a:p>
            <a:pPr marL="0" marR="0"/>
            <a:r>
              <a:rPr lang="en-IN" sz="2400" b="1" dirty="0">
                <a:effectLst/>
                <a:latin typeface="Times New Roman" panose="02020603050405020304" pitchFamily="18" charset="0"/>
                <a:ea typeface="Times New Roman" panose="02020603050405020304" pitchFamily="18" charset="0"/>
              </a:rPr>
              <a:t>Creating Image Blob</a:t>
            </a:r>
          </a:p>
          <a:p>
            <a:pPr marL="0" marR="0"/>
            <a:r>
              <a:rPr lang="en-IN" sz="2000" dirty="0">
                <a:effectLst/>
                <a:latin typeface="Times New Roman" panose="02020603050405020304" pitchFamily="18" charset="0"/>
                <a:ea typeface="Times New Roman" panose="02020603050405020304" pitchFamily="18" charset="0"/>
              </a:rPr>
              <a:t>Now that we have a image with required size and dimensions, but these image cannot be feed to EAST layers as it was trained with image blob of training images with mean being 103.94, 116.78, 123.68 which represent blue, green, red respectively. </a:t>
            </a:r>
            <a:endParaRPr lang="en-US" sz="200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14647EB2-E3A2-1FE0-5E7F-265BDE6DFE3B}"/>
              </a:ext>
            </a:extLst>
          </p:cNvPr>
          <p:cNvSpPr txBox="1"/>
          <p:nvPr/>
        </p:nvSpPr>
        <p:spPr>
          <a:xfrm>
            <a:off x="609600" y="2895600"/>
            <a:ext cx="8915400" cy="3231654"/>
          </a:xfrm>
          <a:prstGeom prst="rect">
            <a:avLst/>
          </a:prstGeom>
          <a:noFill/>
        </p:spPr>
        <p:txBody>
          <a:bodyPr wrap="square">
            <a:spAutoFit/>
          </a:bodyPr>
          <a:lstStyle/>
          <a:p>
            <a:r>
              <a:rPr lang="en-US" sz="2400" b="1" dirty="0">
                <a:solidFill>
                  <a:srgbClr val="000000"/>
                </a:solidFill>
                <a:effectLst/>
                <a:latin typeface="Times New Roman" panose="02020603050405020304" pitchFamily="18" charset="0"/>
                <a:ea typeface="Times New Roman" panose="02020603050405020304" pitchFamily="18" charset="0"/>
              </a:rPr>
              <a:t>Finding ROI through EAST Algorithm(Text Detection)</a:t>
            </a:r>
          </a:p>
          <a:p>
            <a:r>
              <a:rPr lang="en-US" sz="2000" dirty="0">
                <a:solidFill>
                  <a:srgbClr val="000000"/>
                </a:solidFill>
                <a:effectLst/>
                <a:latin typeface="Times New Roman" panose="02020603050405020304" pitchFamily="18" charset="0"/>
                <a:ea typeface="Times New Roman" panose="02020603050405020304" pitchFamily="18" charset="0"/>
              </a:rPr>
              <a:t>Now a days text detection in images is very important. To detect text means to get the region of text which is usually called as region of interest (ROI). This is obtained by passing the image blob created in previous step through EAST layers. These layers are ‘</a:t>
            </a:r>
            <a:r>
              <a:rPr lang="en-US" sz="2000" dirty="0" err="1">
                <a:solidFill>
                  <a:srgbClr val="000000"/>
                </a:solidFill>
                <a:effectLst/>
                <a:latin typeface="Times New Roman" panose="02020603050405020304" pitchFamily="18" charset="0"/>
                <a:ea typeface="Times New Roman" panose="02020603050405020304" pitchFamily="18" charset="0"/>
              </a:rPr>
              <a:t>feature_fusion</a:t>
            </a:r>
            <a:r>
              <a:rPr lang="en-US" sz="2000" dirty="0">
                <a:solidFill>
                  <a:srgbClr val="000000"/>
                </a:solidFill>
                <a:effectLst/>
                <a:latin typeface="Times New Roman" panose="02020603050405020304" pitchFamily="18" charset="0"/>
                <a:ea typeface="Times New Roman" panose="02020603050405020304" pitchFamily="18" charset="0"/>
              </a:rPr>
              <a:t>/Conv_7/Sigmoid’ and ‘</a:t>
            </a:r>
            <a:r>
              <a:rPr lang="en-US" sz="2000" dirty="0" err="1">
                <a:solidFill>
                  <a:srgbClr val="000000"/>
                </a:solidFill>
                <a:effectLst/>
                <a:latin typeface="Times New Roman" panose="02020603050405020304" pitchFamily="18" charset="0"/>
                <a:ea typeface="Times New Roman" panose="02020603050405020304" pitchFamily="18" charset="0"/>
              </a:rPr>
              <a:t>feature_fusion</a:t>
            </a:r>
            <a:r>
              <a:rPr lang="en-US" sz="2000" dirty="0">
                <a:solidFill>
                  <a:srgbClr val="000000"/>
                </a:solidFill>
                <a:effectLst/>
                <a:latin typeface="Times New Roman" panose="02020603050405020304" pitchFamily="18" charset="0"/>
                <a:ea typeface="Times New Roman" panose="02020603050405020304" pitchFamily="18" charset="0"/>
              </a:rPr>
              <a:t>/concat_3’. The output obtained from these layers are bounding boxes (ROI) </a:t>
            </a:r>
            <a:r>
              <a:rPr lang="en-US" sz="2000" dirty="0" err="1">
                <a:solidFill>
                  <a:srgbClr val="000000"/>
                </a:solidFill>
                <a:effectLst/>
                <a:latin typeface="Times New Roman" panose="02020603050405020304" pitchFamily="18" charset="0"/>
                <a:ea typeface="Times New Roman" panose="02020603050405020304" pitchFamily="18" charset="0"/>
              </a:rPr>
              <a:t>i.e</a:t>
            </a:r>
            <a:r>
              <a:rPr lang="en-US" sz="2000" dirty="0">
                <a:solidFill>
                  <a:srgbClr val="000000"/>
                </a:solidFill>
                <a:effectLst/>
                <a:latin typeface="Times New Roman" panose="02020603050405020304" pitchFamily="18" charset="0"/>
                <a:ea typeface="Times New Roman" panose="02020603050405020304" pitchFamily="18" charset="0"/>
              </a:rPr>
              <a:t> 4 vertices and their Confidence (probability). </a:t>
            </a:r>
            <a:r>
              <a:rPr lang="en-US" sz="20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rPr>
              <a:t>Bounding boxes with non-maximum confidence are eliminated using OpenCV’s ‘</a:t>
            </a:r>
            <a:r>
              <a:rPr lang="en-US" sz="2000" dirty="0" err="1">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rPr>
              <a:t>dnn.nmsBoxesRotated</a:t>
            </a:r>
            <a:r>
              <a:rPr lang="en-US" sz="20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rPr>
              <a:t>’ function. Now all the obtained bounding boxes are used for text recognition.</a:t>
            </a:r>
            <a:endParaRPr lang="en-US" sz="2000" dirty="0">
              <a:effectLst/>
              <a:latin typeface="Calibri" panose="020F0502020204030204" pitchFamily="34" charset="0"/>
              <a:ea typeface="Times New Roman" panose="02020603050405020304" pitchFamily="18" charset="0"/>
              <a:cs typeface="Tunga" panose="020B0502040204020203" pitchFamily="34" charset="0"/>
            </a:endParaRPr>
          </a:p>
          <a:p>
            <a:endParaRPr lang="en-US" sz="2000" dirty="0"/>
          </a:p>
        </p:txBody>
      </p:sp>
    </p:spTree>
    <p:extLst>
      <p:ext uri="{BB962C8B-B14F-4D97-AF65-F5344CB8AC3E}">
        <p14:creationId xmlns:p14="http://schemas.microsoft.com/office/powerpoint/2010/main" val="5287556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4F5BF3-6D78-183E-7712-13A99F6DA44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021" y="899160"/>
            <a:ext cx="2399030" cy="3200400"/>
          </a:xfrm>
          <a:prstGeom prst="rect">
            <a:avLst/>
          </a:prstGeom>
          <a:noFill/>
          <a:ln>
            <a:noFill/>
          </a:ln>
        </p:spPr>
      </p:pic>
      <p:pic>
        <p:nvPicPr>
          <p:cNvPr id="4" name="Picture 3">
            <a:extLst>
              <a:ext uri="{FF2B5EF4-FFF2-40B4-BE49-F238E27FC236}">
                <a16:creationId xmlns:a16="http://schemas.microsoft.com/office/drawing/2014/main" id="{DBB0DA66-4AD6-98C4-4783-D3D0131E724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3000" y="914400"/>
            <a:ext cx="2387600" cy="3185160"/>
          </a:xfrm>
          <a:prstGeom prst="rect">
            <a:avLst/>
          </a:prstGeom>
          <a:noFill/>
          <a:ln>
            <a:noFill/>
          </a:ln>
        </p:spPr>
      </p:pic>
      <p:sp>
        <p:nvSpPr>
          <p:cNvPr id="5" name="Arrow: Down 4">
            <a:extLst>
              <a:ext uri="{FF2B5EF4-FFF2-40B4-BE49-F238E27FC236}">
                <a16:creationId xmlns:a16="http://schemas.microsoft.com/office/drawing/2014/main" id="{21B5B70D-B0C9-788F-D97A-A31E12C55C4A}"/>
              </a:ext>
            </a:extLst>
          </p:cNvPr>
          <p:cNvSpPr/>
          <p:nvPr/>
        </p:nvSpPr>
        <p:spPr>
          <a:xfrm rot="16200000">
            <a:off x="3980498" y="2240914"/>
            <a:ext cx="286385" cy="53213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 name="TextBox 5">
            <a:extLst>
              <a:ext uri="{FF2B5EF4-FFF2-40B4-BE49-F238E27FC236}">
                <a16:creationId xmlns:a16="http://schemas.microsoft.com/office/drawing/2014/main" id="{A194B7BC-0AA4-D51D-A57A-2A55E5B2A8C2}"/>
              </a:ext>
            </a:extLst>
          </p:cNvPr>
          <p:cNvSpPr txBox="1"/>
          <p:nvPr/>
        </p:nvSpPr>
        <p:spPr>
          <a:xfrm>
            <a:off x="1075179" y="4953000"/>
            <a:ext cx="5817618" cy="720710"/>
          </a:xfrm>
          <a:prstGeom prst="rect">
            <a:avLst/>
          </a:prstGeom>
          <a:noFill/>
        </p:spPr>
        <p:txBody>
          <a:bodyPr wrap="none" rtlCol="0">
            <a:spAutoFit/>
          </a:bodyPr>
          <a:lstStyle/>
          <a:p>
            <a:pPr marL="12700">
              <a:spcBef>
                <a:spcPts val="105"/>
              </a:spcBef>
            </a:pPr>
            <a:r>
              <a:rPr lang="en-US" sz="2000" dirty="0">
                <a:solidFill>
                  <a:srgbClr val="000000"/>
                </a:solidFill>
                <a:latin typeface="Times New Roman"/>
                <a:cs typeface="Times New Roman"/>
              </a:rPr>
              <a:t>Result: ROI is created and bounding boxes around text</a:t>
            </a:r>
          </a:p>
          <a:p>
            <a:pPr marL="12700">
              <a:spcBef>
                <a:spcPts val="105"/>
              </a:spcBef>
            </a:pPr>
            <a:r>
              <a:rPr lang="en-US" sz="2000" dirty="0">
                <a:solidFill>
                  <a:srgbClr val="000000"/>
                </a:solidFill>
                <a:latin typeface="Times New Roman"/>
                <a:cs typeface="Times New Roman"/>
              </a:rPr>
              <a:t>is formed.</a:t>
            </a:r>
          </a:p>
        </p:txBody>
      </p:sp>
    </p:spTree>
    <p:extLst>
      <p:ext uri="{BB962C8B-B14F-4D97-AF65-F5344CB8AC3E}">
        <p14:creationId xmlns:p14="http://schemas.microsoft.com/office/powerpoint/2010/main" val="26577526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3C8D5B-4899-B846-C7FD-41A52619EE75}"/>
              </a:ext>
            </a:extLst>
          </p:cNvPr>
          <p:cNvSpPr txBox="1"/>
          <p:nvPr/>
        </p:nvSpPr>
        <p:spPr>
          <a:xfrm>
            <a:off x="457200" y="457200"/>
            <a:ext cx="9296400" cy="1692771"/>
          </a:xfrm>
          <a:prstGeom prst="rect">
            <a:avLst/>
          </a:prstGeom>
          <a:noFill/>
        </p:spPr>
        <p:txBody>
          <a:bodyPr wrap="square">
            <a:spAutoFit/>
          </a:bodyPr>
          <a:lstStyle/>
          <a:p>
            <a:pPr marL="0" marR="0"/>
            <a:r>
              <a:rPr lang="en-IN" sz="2400" b="1" dirty="0">
                <a:effectLst/>
                <a:latin typeface="Times New Roman" panose="02020603050405020304" pitchFamily="18" charset="0"/>
                <a:ea typeface="Times New Roman" panose="02020603050405020304" pitchFamily="18" charset="0"/>
              </a:rPr>
              <a:t>Text Recognition</a:t>
            </a:r>
          </a:p>
          <a:p>
            <a:pPr marL="0" marR="0"/>
            <a:r>
              <a:rPr lang="en-IN" sz="2000" dirty="0">
                <a:effectLst/>
                <a:latin typeface="Times New Roman" panose="02020603050405020304" pitchFamily="18" charset="0"/>
                <a:ea typeface="Times New Roman" panose="02020603050405020304" pitchFamily="18" charset="0"/>
              </a:rPr>
              <a:t>The text in the image is obtained at this step. The bounding boxes (ROI) is converted to grayscale using OpenCV’s ‘</a:t>
            </a:r>
            <a:r>
              <a:rPr lang="en-IN" sz="2000" dirty="0" err="1">
                <a:effectLst/>
                <a:latin typeface="Times New Roman" panose="02020603050405020304" pitchFamily="18" charset="0"/>
                <a:ea typeface="Times New Roman" panose="02020603050405020304" pitchFamily="18" charset="0"/>
              </a:rPr>
              <a:t>cvtColor</a:t>
            </a:r>
            <a:r>
              <a:rPr lang="en-IN" sz="2000" dirty="0">
                <a:effectLst/>
                <a:latin typeface="Times New Roman" panose="02020603050405020304" pitchFamily="18" charset="0"/>
                <a:ea typeface="Times New Roman" panose="02020603050405020304" pitchFamily="18" charset="0"/>
              </a:rPr>
              <a:t>’ function and then de-skewed using user defined function which rotates the image if is at an angle. This new image is used to recognise string using ‘</a:t>
            </a:r>
            <a:r>
              <a:rPr lang="en-IN" sz="2000" dirty="0" err="1">
                <a:effectLst/>
                <a:latin typeface="Times New Roman" panose="02020603050405020304" pitchFamily="18" charset="0"/>
                <a:ea typeface="Times New Roman" panose="02020603050405020304" pitchFamily="18" charset="0"/>
              </a:rPr>
              <a:t>image_to_string</a:t>
            </a:r>
            <a:r>
              <a:rPr lang="en-IN" sz="2000" dirty="0">
                <a:effectLst/>
                <a:latin typeface="Times New Roman" panose="02020603050405020304" pitchFamily="18" charset="0"/>
                <a:ea typeface="Times New Roman" panose="02020603050405020304" pitchFamily="18" charset="0"/>
              </a:rPr>
              <a:t>’ function of </a:t>
            </a:r>
            <a:r>
              <a:rPr lang="en-IN" sz="2000" dirty="0" err="1">
                <a:effectLst/>
                <a:latin typeface="Times New Roman" panose="02020603050405020304" pitchFamily="18" charset="0"/>
                <a:ea typeface="Times New Roman" panose="02020603050405020304" pitchFamily="18" charset="0"/>
              </a:rPr>
              <a:t>pytesseract</a:t>
            </a:r>
            <a:r>
              <a:rPr lang="en-IN" sz="2000" dirty="0">
                <a:effectLst/>
                <a:latin typeface="Times New Roman" panose="02020603050405020304" pitchFamily="18"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FC0E5371-5359-01A0-A38A-AE46A6C2F0F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4396" y="3355641"/>
            <a:ext cx="9017208" cy="2306152"/>
          </a:xfrm>
          <a:prstGeom prst="rect">
            <a:avLst/>
          </a:prstGeom>
          <a:noFill/>
          <a:ln>
            <a:noFill/>
          </a:ln>
        </p:spPr>
      </p:pic>
      <p:sp>
        <p:nvSpPr>
          <p:cNvPr id="6" name="TextBox 5">
            <a:extLst>
              <a:ext uri="{FF2B5EF4-FFF2-40B4-BE49-F238E27FC236}">
                <a16:creationId xmlns:a16="http://schemas.microsoft.com/office/drawing/2014/main" id="{A2EC9E9E-1272-06A4-EB28-4E622D2C1421}"/>
              </a:ext>
            </a:extLst>
          </p:cNvPr>
          <p:cNvSpPr txBox="1"/>
          <p:nvPr/>
        </p:nvSpPr>
        <p:spPr>
          <a:xfrm>
            <a:off x="609600" y="2535621"/>
            <a:ext cx="1484702" cy="400110"/>
          </a:xfrm>
          <a:prstGeom prst="rect">
            <a:avLst/>
          </a:prstGeom>
          <a:noFill/>
        </p:spPr>
        <p:txBody>
          <a:bodyPr wrap="none" rtlCol="0">
            <a:spAutoFit/>
          </a:bodyPr>
          <a:lstStyle/>
          <a:p>
            <a:pPr marL="12700">
              <a:spcBef>
                <a:spcPts val="105"/>
              </a:spcBef>
            </a:pPr>
            <a:r>
              <a:rPr lang="en-US" sz="2000" dirty="0">
                <a:solidFill>
                  <a:srgbClr val="000000"/>
                </a:solidFill>
                <a:latin typeface="Times New Roman"/>
                <a:cs typeface="Times New Roman"/>
              </a:rPr>
              <a:t>For example</a:t>
            </a:r>
          </a:p>
        </p:txBody>
      </p:sp>
    </p:spTree>
    <p:extLst>
      <p:ext uri="{BB962C8B-B14F-4D97-AF65-F5344CB8AC3E}">
        <p14:creationId xmlns:p14="http://schemas.microsoft.com/office/powerpoint/2010/main" val="3275352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8E4910-D555-C4F9-35A4-2BE6BF6FD1E9}"/>
              </a:ext>
            </a:extLst>
          </p:cNvPr>
          <p:cNvSpPr txBox="1"/>
          <p:nvPr/>
        </p:nvSpPr>
        <p:spPr>
          <a:xfrm>
            <a:off x="381000" y="457200"/>
            <a:ext cx="9144000" cy="2616101"/>
          </a:xfrm>
          <a:prstGeom prst="rect">
            <a:avLst/>
          </a:prstGeom>
          <a:noFill/>
        </p:spPr>
        <p:txBody>
          <a:bodyPr wrap="square">
            <a:spAutoFit/>
          </a:bodyPr>
          <a:lstStyle/>
          <a:p>
            <a:pPr algn="just"/>
            <a:r>
              <a:rPr lang="en-IN" sz="2400" b="1" dirty="0">
                <a:effectLst/>
                <a:latin typeface="Times New Roman" panose="02020603050405020304" pitchFamily="18" charset="0"/>
                <a:ea typeface="Times New Roman" panose="02020603050405020304" pitchFamily="18" charset="0"/>
              </a:rPr>
              <a:t>Punctuations Removal</a:t>
            </a:r>
          </a:p>
          <a:p>
            <a:pPr algn="just"/>
            <a:r>
              <a:rPr lang="en-IN" sz="2000" dirty="0">
                <a:effectLst/>
                <a:latin typeface="Times New Roman" panose="02020603050405020304" pitchFamily="18" charset="0"/>
                <a:ea typeface="Times New Roman" panose="02020603050405020304" pitchFamily="18" charset="0"/>
              </a:rPr>
              <a:t>Removing punctuations becomes very important in sentimental analysis. It behaves as noise in our sentimental analysis, so it’s become very important to remove all punctuations that are present in our text. Because there is no contribution of punctuations in analysing the sentiment of text. For removing Punctuations, string module has been used. The string module of Python helps us to quickly access some useful string constants. </a:t>
            </a:r>
            <a:endParaRPr lang="en-US" sz="2000" dirty="0">
              <a:effectLst/>
              <a:latin typeface="Times New Roman" panose="02020603050405020304" pitchFamily="18" charset="0"/>
              <a:ea typeface="Times New Roman" panose="02020603050405020304" pitchFamily="18" charset="0"/>
            </a:endParaRPr>
          </a:p>
          <a:p>
            <a:pPr marL="0" marR="0" algn="just"/>
            <a:endParaRPr lang="en-US" sz="2000" dirty="0">
              <a:effectLst/>
              <a:latin typeface="Times New Roman" panose="02020603050405020304" pitchFamily="18" charset="0"/>
              <a:ea typeface="Times New Roman" panose="02020603050405020304" pitchFamily="18" charset="0"/>
            </a:endParaRPr>
          </a:p>
        </p:txBody>
      </p:sp>
      <p:pic>
        <p:nvPicPr>
          <p:cNvPr id="11" name="Picture 10">
            <a:extLst>
              <a:ext uri="{FF2B5EF4-FFF2-40B4-BE49-F238E27FC236}">
                <a16:creationId xmlns:a16="http://schemas.microsoft.com/office/drawing/2014/main" id="{F3E5ACB6-4F27-69BA-62FD-4EE3FF00AD6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837389"/>
            <a:ext cx="8382000" cy="1246816"/>
          </a:xfrm>
          <a:prstGeom prst="rect">
            <a:avLst/>
          </a:prstGeom>
          <a:noFill/>
        </p:spPr>
      </p:pic>
      <p:sp>
        <p:nvSpPr>
          <p:cNvPr id="12" name="Arrow: Down 11">
            <a:extLst>
              <a:ext uri="{FF2B5EF4-FFF2-40B4-BE49-F238E27FC236}">
                <a16:creationId xmlns:a16="http://schemas.microsoft.com/office/drawing/2014/main" id="{13B424CB-02F7-9296-8F37-888A6B4ACF8B}"/>
              </a:ext>
            </a:extLst>
          </p:cNvPr>
          <p:cNvSpPr/>
          <p:nvPr/>
        </p:nvSpPr>
        <p:spPr>
          <a:xfrm>
            <a:off x="4114800" y="4177033"/>
            <a:ext cx="438150" cy="6864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3" name="Picture 12">
            <a:extLst>
              <a:ext uri="{FF2B5EF4-FFF2-40B4-BE49-F238E27FC236}">
                <a16:creationId xmlns:a16="http://schemas.microsoft.com/office/drawing/2014/main" id="{FD609422-BE78-C8DF-13FA-6E60D7D16D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982902"/>
            <a:ext cx="8382000" cy="1140404"/>
          </a:xfrm>
          <a:prstGeom prst="rect">
            <a:avLst/>
          </a:prstGeom>
          <a:noFill/>
        </p:spPr>
      </p:pic>
      <p:sp>
        <p:nvSpPr>
          <p:cNvPr id="15" name="TextBox 14">
            <a:extLst>
              <a:ext uri="{FF2B5EF4-FFF2-40B4-BE49-F238E27FC236}">
                <a16:creationId xmlns:a16="http://schemas.microsoft.com/office/drawing/2014/main" id="{B9AF2BC3-C65B-1DEC-9409-3F1F83DF4D2B}"/>
              </a:ext>
            </a:extLst>
          </p:cNvPr>
          <p:cNvSpPr txBox="1"/>
          <p:nvPr/>
        </p:nvSpPr>
        <p:spPr>
          <a:xfrm>
            <a:off x="2198052" y="6216134"/>
            <a:ext cx="4953000" cy="400110"/>
          </a:xfrm>
          <a:prstGeom prst="rect">
            <a:avLst/>
          </a:prstGeom>
          <a:noFill/>
        </p:spPr>
        <p:txBody>
          <a:bodyPr wrap="square">
            <a:spAutoFit/>
          </a:bodyPr>
          <a:lstStyle/>
          <a:p>
            <a:pPr marL="0" marR="0"/>
            <a:r>
              <a:rPr lang="en-IN" sz="2000" dirty="0">
                <a:effectLst/>
                <a:latin typeface="Times New Roman" panose="02020603050405020304" pitchFamily="18" charset="0"/>
                <a:ea typeface="Times New Roman" panose="02020603050405020304" pitchFamily="18" charset="0"/>
              </a:rPr>
              <a:t>Result: Punctuations are removed</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35904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72E631-165D-E4E7-1DAD-478029823C8A}"/>
              </a:ext>
            </a:extLst>
          </p:cNvPr>
          <p:cNvSpPr txBox="1"/>
          <p:nvPr/>
        </p:nvSpPr>
        <p:spPr>
          <a:xfrm>
            <a:off x="381000" y="0"/>
            <a:ext cx="9067800" cy="1752600"/>
          </a:xfrm>
          <a:prstGeom prst="rect">
            <a:avLst/>
          </a:prstGeom>
          <a:noFill/>
        </p:spPr>
        <p:txBody>
          <a:bodyPr wrap="square">
            <a:spAutoFit/>
          </a:bodyPr>
          <a:lstStyle/>
          <a:p>
            <a:pPr marL="0" marR="0" algn="just"/>
            <a:r>
              <a:rPr lang="en-IN" sz="2400" b="1" spc="-5" dirty="0">
                <a:effectLst/>
                <a:latin typeface="Times New Roman" panose="02020603050405020304" pitchFamily="18" charset="0"/>
                <a:ea typeface="Times New Roman" panose="02020603050405020304" pitchFamily="18" charset="0"/>
              </a:rPr>
              <a:t>Removing all stop words</a:t>
            </a:r>
          </a:p>
          <a:p>
            <a:pPr marL="0" marR="0" algn="just"/>
            <a:r>
              <a:rPr lang="en-IN" sz="2000" spc="-5" dirty="0">
                <a:effectLst/>
                <a:latin typeface="Times New Roman" panose="02020603050405020304" pitchFamily="18" charset="0"/>
                <a:ea typeface="Times New Roman" panose="02020603050405020304" pitchFamily="18" charset="0"/>
              </a:rPr>
              <a:t>The words which are generally filtered out before processing a natural language are called </a:t>
            </a:r>
            <a:r>
              <a:rPr lang="en-IN" sz="2000" b="1" spc="-5" dirty="0">
                <a:effectLst/>
                <a:latin typeface="Times New Roman" panose="02020603050405020304" pitchFamily="18" charset="0"/>
                <a:ea typeface="Times New Roman" panose="02020603050405020304" pitchFamily="18" charset="0"/>
              </a:rPr>
              <a:t>stop words</a:t>
            </a:r>
            <a:r>
              <a:rPr lang="en-IN" sz="2000" spc="-5" dirty="0">
                <a:effectLst/>
                <a:latin typeface="Times New Roman" panose="02020603050405020304" pitchFamily="18" charset="0"/>
                <a:ea typeface="Times New Roman" panose="02020603050405020304" pitchFamily="18" charset="0"/>
              </a:rPr>
              <a:t>. These are actually the most common words in any language (like articles, prepositions, pronouns, conjunctions, etc) and does not add much information to the text. Examples of a few stop words in English are “the”, “a”, “an”, “so”, “what”.</a:t>
            </a:r>
            <a:endParaRPr lang="en-US" sz="20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A4C001E9-8CE5-1DA9-6CD1-F64F52B41C8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424451"/>
            <a:ext cx="5504815" cy="1948815"/>
          </a:xfrm>
          <a:prstGeom prst="rect">
            <a:avLst/>
          </a:prstGeom>
          <a:noFill/>
        </p:spPr>
      </p:pic>
      <p:sp>
        <p:nvSpPr>
          <p:cNvPr id="7" name="TextBox 6">
            <a:extLst>
              <a:ext uri="{FF2B5EF4-FFF2-40B4-BE49-F238E27FC236}">
                <a16:creationId xmlns:a16="http://schemas.microsoft.com/office/drawing/2014/main" id="{2119DD94-5EE8-D6C8-B487-6C8ED826ED4F}"/>
              </a:ext>
            </a:extLst>
          </p:cNvPr>
          <p:cNvSpPr txBox="1"/>
          <p:nvPr/>
        </p:nvSpPr>
        <p:spPr>
          <a:xfrm>
            <a:off x="381000" y="2055959"/>
            <a:ext cx="5029200" cy="400110"/>
          </a:xfrm>
          <a:prstGeom prst="rect">
            <a:avLst/>
          </a:prstGeom>
          <a:noFill/>
        </p:spPr>
        <p:txBody>
          <a:bodyPr wrap="square">
            <a:spAutoFit/>
          </a:bodyPr>
          <a:lstStyle/>
          <a:p>
            <a:pPr marL="0" marR="0" algn="just"/>
            <a:r>
              <a:rPr lang="en-IN" sz="2000" spc="-5" dirty="0">
                <a:effectLst/>
                <a:latin typeface="Times New Roman" panose="02020603050405020304" pitchFamily="18" charset="0"/>
                <a:ea typeface="Times New Roman" panose="02020603050405020304" pitchFamily="18" charset="0"/>
              </a:rPr>
              <a:t>For example</a:t>
            </a:r>
            <a:r>
              <a:rPr lang="en-IN" sz="1800" spc="-5" dirty="0">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A111542E-B02A-4522-08A0-0B9F825B618D}"/>
              </a:ext>
            </a:extLst>
          </p:cNvPr>
          <p:cNvSpPr txBox="1"/>
          <p:nvPr/>
        </p:nvSpPr>
        <p:spPr>
          <a:xfrm>
            <a:off x="609600" y="2458333"/>
            <a:ext cx="5022376" cy="400110"/>
          </a:xfrm>
          <a:prstGeom prst="rect">
            <a:avLst/>
          </a:prstGeom>
          <a:noFill/>
        </p:spPr>
        <p:txBody>
          <a:bodyPr wrap="square">
            <a:spAutoFit/>
          </a:bodyPr>
          <a:lstStyle/>
          <a:p>
            <a:r>
              <a:rPr lang="en-IN" sz="2000" dirty="0">
                <a:effectLst/>
                <a:latin typeface="Calibri" panose="020F0502020204030204" pitchFamily="34" charset="0"/>
                <a:ea typeface="Times New Roman" panose="02020603050405020304" pitchFamily="18" charset="0"/>
                <a:cs typeface="Tunga" panose="020B0502040204020203" pitchFamily="34" charset="0"/>
              </a:rPr>
              <a:t>Sample 1:</a:t>
            </a:r>
            <a:endParaRPr lang="en-US" sz="2000" dirty="0"/>
          </a:p>
        </p:txBody>
      </p:sp>
    </p:spTree>
    <p:extLst>
      <p:ext uri="{BB962C8B-B14F-4D97-AF65-F5344CB8AC3E}">
        <p14:creationId xmlns:p14="http://schemas.microsoft.com/office/powerpoint/2010/main" val="36331996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E44B1B-A2FD-7AB2-2027-77AAC90681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01525"/>
            <a:ext cx="8085455" cy="1753898"/>
          </a:xfrm>
          <a:prstGeom prst="rect">
            <a:avLst/>
          </a:prstGeom>
          <a:noFill/>
        </p:spPr>
      </p:pic>
      <p:sp>
        <p:nvSpPr>
          <p:cNvPr id="4" name="Arrow: Down 3">
            <a:extLst>
              <a:ext uri="{FF2B5EF4-FFF2-40B4-BE49-F238E27FC236}">
                <a16:creationId xmlns:a16="http://schemas.microsoft.com/office/drawing/2014/main" id="{29897A55-EED4-EB95-00F0-020955124685}"/>
              </a:ext>
            </a:extLst>
          </p:cNvPr>
          <p:cNvSpPr/>
          <p:nvPr/>
        </p:nvSpPr>
        <p:spPr>
          <a:xfrm>
            <a:off x="4621326" y="2808214"/>
            <a:ext cx="415290" cy="8934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5" name="Picture 4">
            <a:extLst>
              <a:ext uri="{FF2B5EF4-FFF2-40B4-BE49-F238E27FC236}">
                <a16:creationId xmlns:a16="http://schemas.microsoft.com/office/drawing/2014/main" id="{0F000581-5D3C-0AFF-2747-E8F5B6F83CF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1232" y="4110822"/>
            <a:ext cx="8423536" cy="1869538"/>
          </a:xfrm>
          <a:prstGeom prst="rect">
            <a:avLst/>
          </a:prstGeom>
          <a:noFill/>
        </p:spPr>
      </p:pic>
      <p:sp>
        <p:nvSpPr>
          <p:cNvPr id="10" name="TextBox 9">
            <a:extLst>
              <a:ext uri="{FF2B5EF4-FFF2-40B4-BE49-F238E27FC236}">
                <a16:creationId xmlns:a16="http://schemas.microsoft.com/office/drawing/2014/main" id="{864700C0-3539-C08F-04F5-53F049BE99E6}"/>
              </a:ext>
            </a:extLst>
          </p:cNvPr>
          <p:cNvSpPr txBox="1"/>
          <p:nvPr/>
        </p:nvSpPr>
        <p:spPr>
          <a:xfrm>
            <a:off x="381000" y="456486"/>
            <a:ext cx="4953000" cy="400110"/>
          </a:xfrm>
          <a:prstGeom prst="rect">
            <a:avLst/>
          </a:prstGeom>
          <a:noFill/>
        </p:spPr>
        <p:txBody>
          <a:bodyPr wrap="square">
            <a:spAutoFit/>
          </a:bodyPr>
          <a:lstStyle/>
          <a:p>
            <a:r>
              <a:rPr lang="en-IN" sz="2000" dirty="0">
                <a:effectLst/>
                <a:latin typeface="Calibri" panose="020F0502020204030204" pitchFamily="34" charset="0"/>
                <a:ea typeface="Times New Roman" panose="02020603050405020304" pitchFamily="18" charset="0"/>
                <a:cs typeface="Tunga" panose="020B0502040204020203" pitchFamily="34" charset="0"/>
              </a:rPr>
              <a:t>Sample 2:</a:t>
            </a:r>
            <a:endParaRPr lang="en-US" sz="2000" dirty="0"/>
          </a:p>
        </p:txBody>
      </p:sp>
      <p:sp>
        <p:nvSpPr>
          <p:cNvPr id="11" name="TextBox 10">
            <a:extLst>
              <a:ext uri="{FF2B5EF4-FFF2-40B4-BE49-F238E27FC236}">
                <a16:creationId xmlns:a16="http://schemas.microsoft.com/office/drawing/2014/main" id="{C15796E0-B106-03A6-3781-13BA98DCF801}"/>
              </a:ext>
            </a:extLst>
          </p:cNvPr>
          <p:cNvSpPr txBox="1"/>
          <p:nvPr/>
        </p:nvSpPr>
        <p:spPr>
          <a:xfrm>
            <a:off x="2198052" y="6216134"/>
            <a:ext cx="4953000" cy="400110"/>
          </a:xfrm>
          <a:prstGeom prst="rect">
            <a:avLst/>
          </a:prstGeom>
          <a:noFill/>
        </p:spPr>
        <p:txBody>
          <a:bodyPr wrap="square">
            <a:spAutoFit/>
          </a:bodyPr>
          <a:lstStyle/>
          <a:p>
            <a:pPr marL="0" marR="0"/>
            <a:r>
              <a:rPr lang="en-IN" sz="2000" dirty="0">
                <a:effectLst/>
                <a:latin typeface="Times New Roman" panose="02020603050405020304" pitchFamily="18" charset="0"/>
                <a:ea typeface="Times New Roman" panose="02020603050405020304" pitchFamily="18" charset="0"/>
              </a:rPr>
              <a:t>Result: </a:t>
            </a:r>
            <a:r>
              <a:rPr lang="en-IN" sz="2000" dirty="0">
                <a:latin typeface="Times New Roman" panose="02020603050405020304" pitchFamily="18" charset="0"/>
                <a:ea typeface="Times New Roman" panose="02020603050405020304" pitchFamily="18" charset="0"/>
              </a:rPr>
              <a:t>All stop words removed</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27864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BF085C-EC39-60AD-EA32-AECE481D848A}"/>
              </a:ext>
            </a:extLst>
          </p:cNvPr>
          <p:cNvSpPr txBox="1"/>
          <p:nvPr/>
        </p:nvSpPr>
        <p:spPr>
          <a:xfrm>
            <a:off x="304800" y="136508"/>
            <a:ext cx="9296400" cy="4955203"/>
          </a:xfrm>
          <a:prstGeom prst="rect">
            <a:avLst/>
          </a:prstGeom>
          <a:noFill/>
        </p:spPr>
        <p:txBody>
          <a:bodyPr wrap="square">
            <a:spAutoFit/>
          </a:bodyPr>
          <a:lstStyle/>
          <a:p>
            <a:pPr marL="0" marR="0" algn="just"/>
            <a:r>
              <a:rPr lang="en-IN" sz="2800" b="1" dirty="0">
                <a:solidFill>
                  <a:srgbClr val="111111"/>
                </a:solidFill>
                <a:effectLst/>
                <a:latin typeface="Times New Roman" panose="02020603050405020304" pitchFamily="18" charset="0"/>
                <a:ea typeface="Times New Roman" panose="02020603050405020304" pitchFamily="18" charset="0"/>
              </a:rPr>
              <a:t>Tokenization</a:t>
            </a:r>
          </a:p>
          <a:p>
            <a:pPr marL="0" marR="0" algn="just"/>
            <a:r>
              <a:rPr lang="en-IN" sz="2400" dirty="0">
                <a:solidFill>
                  <a:srgbClr val="111111"/>
                </a:solidFill>
                <a:effectLst/>
                <a:latin typeface="Times New Roman" panose="02020603050405020304" pitchFamily="18" charset="0"/>
                <a:ea typeface="Times New Roman" panose="02020603050405020304" pitchFamily="18" charset="0"/>
              </a:rPr>
              <a:t>Tokenization is breaking the raw text into small chunks. Tokenization breaks the raw text into words, sentences called tokens. These tokens help in understanding the context or developing the model for the NLP. The tokenization helps in interpreting the meaning of the text by analysing the sequence of the words.</a:t>
            </a:r>
            <a:endParaRPr lang="en-US" sz="2400" dirty="0">
              <a:effectLst/>
              <a:latin typeface="Times New Roman" panose="02020603050405020304" pitchFamily="18" charset="0"/>
              <a:ea typeface="Times New Roman" panose="02020603050405020304" pitchFamily="18" charset="0"/>
            </a:endParaRPr>
          </a:p>
          <a:p>
            <a:pPr marL="0" marR="0" algn="just"/>
            <a:r>
              <a:rPr lang="en-IN" sz="2400" dirty="0">
                <a:solidFill>
                  <a:srgbClr val="111111"/>
                </a:solidFill>
                <a:effectLst/>
                <a:latin typeface="Times New Roman" panose="02020603050405020304" pitchFamily="18" charset="0"/>
                <a:ea typeface="Times New Roman" panose="02020603050405020304" pitchFamily="18" charset="0"/>
              </a:rPr>
              <a:t>tokenization is even more important in sentiment analysis than it is in other areas of NLP, because sentiment information is often sparsely and unusually represented.</a:t>
            </a:r>
            <a:endParaRPr lang="en-US" sz="2400" dirty="0">
              <a:effectLst/>
              <a:latin typeface="Times New Roman" panose="02020603050405020304" pitchFamily="18" charset="0"/>
              <a:ea typeface="Times New Roman" panose="02020603050405020304" pitchFamily="18" charset="0"/>
            </a:endParaRPr>
          </a:p>
          <a:p>
            <a:pPr marL="0" marR="0" algn="just"/>
            <a:r>
              <a:rPr lang="en-IN" sz="2400" dirty="0">
                <a:solidFill>
                  <a:srgbClr val="111111"/>
                </a:solidFill>
                <a:effectLst/>
                <a:latin typeface="Times New Roman" panose="02020603050405020304" pitchFamily="18" charset="0"/>
                <a:ea typeface="Times New Roman" panose="02020603050405020304" pitchFamily="18" charset="0"/>
              </a:rPr>
              <a:t>It’s step after removing all punctuations and stop words. It’s important to tokenize the word in our dataset because there is chances that some words can be repeated in data set, so it’s required to count the number of times it’s repeating in itself.</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989250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E5F520B-0DAF-5E73-81D1-CCB827A0944A}"/>
              </a:ext>
            </a:extLst>
          </p:cNvPr>
          <p:cNvSpPr txBox="1"/>
          <p:nvPr/>
        </p:nvSpPr>
        <p:spPr>
          <a:xfrm>
            <a:off x="304800" y="174609"/>
            <a:ext cx="4953000" cy="400110"/>
          </a:xfrm>
          <a:prstGeom prst="rect">
            <a:avLst/>
          </a:prstGeom>
          <a:noFill/>
        </p:spPr>
        <p:txBody>
          <a:bodyPr wrap="square">
            <a:spAutoFit/>
          </a:bodyPr>
          <a:lstStyle/>
          <a:p>
            <a:r>
              <a:rPr lang="en-IN" sz="2000" dirty="0">
                <a:effectLst/>
                <a:latin typeface="Calibri" panose="020F0502020204030204" pitchFamily="34" charset="0"/>
                <a:ea typeface="Times New Roman" panose="02020603050405020304" pitchFamily="18" charset="0"/>
                <a:cs typeface="Tunga" panose="020B0502040204020203" pitchFamily="34" charset="0"/>
              </a:rPr>
              <a:t>Example:</a:t>
            </a:r>
            <a:endParaRPr lang="en-US" sz="2000" dirty="0"/>
          </a:p>
        </p:txBody>
      </p:sp>
      <p:pic>
        <p:nvPicPr>
          <p:cNvPr id="5" name="Picture 4">
            <a:extLst>
              <a:ext uri="{FF2B5EF4-FFF2-40B4-BE49-F238E27FC236}">
                <a16:creationId xmlns:a16="http://schemas.microsoft.com/office/drawing/2014/main" id="{0DFB684A-BC08-30C0-0BE9-338A80723B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6209" y="854075"/>
            <a:ext cx="8853582" cy="2031350"/>
          </a:xfrm>
          <a:prstGeom prst="rect">
            <a:avLst/>
          </a:prstGeom>
          <a:noFill/>
        </p:spPr>
      </p:pic>
      <p:sp>
        <p:nvSpPr>
          <p:cNvPr id="6" name="Arrow: Down 5">
            <a:extLst>
              <a:ext uri="{FF2B5EF4-FFF2-40B4-BE49-F238E27FC236}">
                <a16:creationId xmlns:a16="http://schemas.microsoft.com/office/drawing/2014/main" id="{B248CA80-55D1-A5FA-752C-4D97E8A733F8}"/>
              </a:ext>
            </a:extLst>
          </p:cNvPr>
          <p:cNvSpPr/>
          <p:nvPr/>
        </p:nvSpPr>
        <p:spPr>
          <a:xfrm>
            <a:off x="4727256" y="3054660"/>
            <a:ext cx="451485" cy="11125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7" name="Picture 6">
            <a:extLst>
              <a:ext uri="{FF2B5EF4-FFF2-40B4-BE49-F238E27FC236}">
                <a16:creationId xmlns:a16="http://schemas.microsoft.com/office/drawing/2014/main" id="{5FBCD1AF-EEEB-19E1-49D7-024C9B67312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6209" y="4244348"/>
            <a:ext cx="8991599" cy="1660525"/>
          </a:xfrm>
          <a:prstGeom prst="rect">
            <a:avLst/>
          </a:prstGeom>
          <a:noFill/>
        </p:spPr>
      </p:pic>
      <p:sp>
        <p:nvSpPr>
          <p:cNvPr id="9" name="TextBox 8">
            <a:extLst>
              <a:ext uri="{FF2B5EF4-FFF2-40B4-BE49-F238E27FC236}">
                <a16:creationId xmlns:a16="http://schemas.microsoft.com/office/drawing/2014/main" id="{59EC90AC-8551-CF32-E32C-14F2E08D7142}"/>
              </a:ext>
            </a:extLst>
          </p:cNvPr>
          <p:cNvSpPr txBox="1"/>
          <p:nvPr/>
        </p:nvSpPr>
        <p:spPr>
          <a:xfrm>
            <a:off x="1219200" y="6240340"/>
            <a:ext cx="4953000" cy="400110"/>
          </a:xfrm>
          <a:prstGeom prst="rect">
            <a:avLst/>
          </a:prstGeom>
          <a:noFill/>
        </p:spPr>
        <p:txBody>
          <a:bodyPr wrap="square">
            <a:spAutoFit/>
          </a:bodyPr>
          <a:lstStyle/>
          <a:p>
            <a:pPr marL="0" marR="0"/>
            <a:r>
              <a:rPr lang="en-IN" sz="2000" dirty="0">
                <a:effectLst/>
                <a:latin typeface="Times New Roman" panose="02020603050405020304" pitchFamily="18" charset="0"/>
                <a:ea typeface="Times New Roman" panose="02020603050405020304" pitchFamily="18" charset="0"/>
              </a:rPr>
              <a:t>Result: Sentences are tokenized.</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66881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500458-15E5-1210-75D8-08E1A6F009E9}"/>
              </a:ext>
            </a:extLst>
          </p:cNvPr>
          <p:cNvSpPr txBox="1"/>
          <p:nvPr/>
        </p:nvSpPr>
        <p:spPr>
          <a:xfrm>
            <a:off x="304800" y="685800"/>
            <a:ext cx="8839200" cy="3908762"/>
          </a:xfrm>
          <a:prstGeom prst="rect">
            <a:avLst/>
          </a:prstGeom>
          <a:noFill/>
        </p:spPr>
        <p:txBody>
          <a:bodyPr wrap="square">
            <a:spAutoFit/>
          </a:bodyPr>
          <a:lstStyle/>
          <a:p>
            <a:pPr marL="0" marR="0" algn="just"/>
            <a:r>
              <a:rPr lang="en-IN" sz="2800" b="1" dirty="0">
                <a:effectLst/>
                <a:latin typeface="Times New Roman" panose="02020603050405020304" pitchFamily="18" charset="0"/>
                <a:ea typeface="Times New Roman" panose="02020603050405020304" pitchFamily="18" charset="0"/>
              </a:rPr>
              <a:t>Comparison with English Dictionary and extracting all useful words</a:t>
            </a:r>
          </a:p>
          <a:p>
            <a:pPr marL="0" marR="0" algn="just"/>
            <a:r>
              <a:rPr lang="en-IN" sz="2400" dirty="0">
                <a:effectLst/>
                <a:latin typeface="Times New Roman" panose="02020603050405020304" pitchFamily="18" charset="0"/>
                <a:ea typeface="Times New Roman" panose="02020603050405020304" pitchFamily="18" charset="0"/>
              </a:rPr>
              <a:t>After tokenization it’s important to compare our dataset with English dictionary. There might be possibility that some words will not be in English dictionary like name of person, place, monuments or any extra wrong words. Name of any person or </a:t>
            </a:r>
            <a:r>
              <a:rPr lang="en-IN" sz="2400" dirty="0" err="1">
                <a:effectLst/>
                <a:latin typeface="Times New Roman" panose="02020603050405020304" pitchFamily="18" charset="0"/>
                <a:ea typeface="Times New Roman" panose="02020603050405020304" pitchFamily="18" charset="0"/>
              </a:rPr>
              <a:t>anymaterial</a:t>
            </a:r>
            <a:r>
              <a:rPr lang="en-IN" sz="2400" dirty="0">
                <a:effectLst/>
                <a:latin typeface="Times New Roman" panose="02020603050405020304" pitchFamily="18" charset="0"/>
                <a:ea typeface="Times New Roman" panose="02020603050405020304" pitchFamily="18" charset="0"/>
              </a:rPr>
              <a:t> doesn’t constituent any meaning in sentimental analysis of given data. So, it’s necessary to remove these words.</a:t>
            </a:r>
          </a:p>
          <a:p>
            <a:pPr marL="0" marR="0" algn="just"/>
            <a:r>
              <a:rPr lang="en-IN" sz="2400" dirty="0">
                <a:latin typeface="Times New Roman" panose="02020603050405020304" pitchFamily="18" charset="0"/>
                <a:ea typeface="Times New Roman" panose="02020603050405020304" pitchFamily="18" charset="0"/>
              </a:rPr>
              <a:t>So it’s very important to compare it with English dictionary in order to remove these words.</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05716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5D03D8-A072-DA38-19C1-75A06C7682E8}"/>
              </a:ext>
            </a:extLst>
          </p:cNvPr>
          <p:cNvSpPr txBox="1"/>
          <p:nvPr/>
        </p:nvSpPr>
        <p:spPr>
          <a:xfrm>
            <a:off x="457200" y="136509"/>
            <a:ext cx="4953000" cy="369332"/>
          </a:xfrm>
          <a:prstGeom prst="rect">
            <a:avLst/>
          </a:prstGeom>
          <a:noFill/>
        </p:spPr>
        <p:txBody>
          <a:bodyPr wrap="square">
            <a:spAutoFit/>
          </a:bodyPr>
          <a:lstStyle/>
          <a:p>
            <a:r>
              <a:rPr lang="en-IN" sz="1800" dirty="0">
                <a:effectLst/>
                <a:latin typeface="Calibri" panose="020F0502020204030204" pitchFamily="34" charset="0"/>
                <a:ea typeface="Times New Roman" panose="02020603050405020304" pitchFamily="18" charset="0"/>
                <a:cs typeface="Tunga" panose="020B0502040204020203" pitchFamily="34" charset="0"/>
              </a:rPr>
              <a:t>Example:</a:t>
            </a:r>
            <a:endParaRPr lang="en-US" dirty="0"/>
          </a:p>
        </p:txBody>
      </p:sp>
      <p:sp>
        <p:nvSpPr>
          <p:cNvPr id="6" name="Arrow: Down 5">
            <a:extLst>
              <a:ext uri="{FF2B5EF4-FFF2-40B4-BE49-F238E27FC236}">
                <a16:creationId xmlns:a16="http://schemas.microsoft.com/office/drawing/2014/main" id="{8E1C8C32-ABB2-D539-EE4A-92BBE4FCE8B6}"/>
              </a:ext>
            </a:extLst>
          </p:cNvPr>
          <p:cNvSpPr/>
          <p:nvPr/>
        </p:nvSpPr>
        <p:spPr>
          <a:xfrm>
            <a:off x="4764405" y="3197174"/>
            <a:ext cx="188595" cy="8447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9" name="TextBox 8">
            <a:extLst>
              <a:ext uri="{FF2B5EF4-FFF2-40B4-BE49-F238E27FC236}">
                <a16:creationId xmlns:a16="http://schemas.microsoft.com/office/drawing/2014/main" id="{F7633513-CF34-32FD-B6BA-BE381269ADEF}"/>
              </a:ext>
            </a:extLst>
          </p:cNvPr>
          <p:cNvSpPr txBox="1"/>
          <p:nvPr/>
        </p:nvSpPr>
        <p:spPr>
          <a:xfrm>
            <a:off x="1981200" y="6056506"/>
            <a:ext cx="4953000" cy="707886"/>
          </a:xfrm>
          <a:prstGeom prst="rect">
            <a:avLst/>
          </a:prstGeom>
          <a:noFill/>
        </p:spPr>
        <p:txBody>
          <a:bodyPr wrap="square">
            <a:spAutoFit/>
          </a:bodyPr>
          <a:lstStyle/>
          <a:p>
            <a:pPr marL="0" marR="0"/>
            <a:r>
              <a:rPr lang="en-IN" sz="2000" dirty="0">
                <a:effectLst/>
                <a:latin typeface="Times New Roman" panose="02020603050405020304" pitchFamily="18" charset="0"/>
                <a:ea typeface="Times New Roman" panose="02020603050405020304" pitchFamily="18" charset="0"/>
              </a:rPr>
              <a:t>Result: All useful words are extracted from tokenized word.</a:t>
            </a:r>
            <a:endParaRPr lang="en-US" sz="2000"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AE5557D2-A4F3-2E98-13DB-D8E6464FEF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718506"/>
            <a:ext cx="9116001" cy="1939039"/>
          </a:xfrm>
          <a:prstGeom prst="rect">
            <a:avLst/>
          </a:prstGeom>
        </p:spPr>
      </p:pic>
      <p:pic>
        <p:nvPicPr>
          <p:cNvPr id="10" name="Picture 9">
            <a:extLst>
              <a:ext uri="{FF2B5EF4-FFF2-40B4-BE49-F238E27FC236}">
                <a16:creationId xmlns:a16="http://schemas.microsoft.com/office/drawing/2014/main" id="{E7537548-FCAE-247E-9C50-F08F97F651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594" y="4149213"/>
            <a:ext cx="9124523" cy="1338094"/>
          </a:xfrm>
          <a:prstGeom prst="rect">
            <a:avLst/>
          </a:prstGeom>
        </p:spPr>
      </p:pic>
    </p:spTree>
    <p:extLst>
      <p:ext uri="{BB962C8B-B14F-4D97-AF65-F5344CB8AC3E}">
        <p14:creationId xmlns:p14="http://schemas.microsoft.com/office/powerpoint/2010/main" val="493902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0DEC52-7A16-33AF-4653-891DB2B9443D}"/>
              </a:ext>
            </a:extLst>
          </p:cNvPr>
          <p:cNvSpPr txBox="1"/>
          <p:nvPr/>
        </p:nvSpPr>
        <p:spPr>
          <a:xfrm>
            <a:off x="228600" y="136508"/>
            <a:ext cx="9296400" cy="5970865"/>
          </a:xfrm>
          <a:prstGeom prst="rect">
            <a:avLst/>
          </a:prstGeom>
          <a:noFill/>
        </p:spPr>
        <p:txBody>
          <a:bodyPr wrap="square">
            <a:spAutoFit/>
          </a:bodyPr>
          <a:lstStyle/>
          <a:p>
            <a:pPr marL="0" marR="0" algn="just"/>
            <a:r>
              <a:rPr lang="en-IN" sz="2400" b="1" dirty="0">
                <a:effectLst/>
                <a:latin typeface="Times New Roman" panose="02020603050405020304" pitchFamily="18" charset="0"/>
                <a:ea typeface="Times New Roman" panose="02020603050405020304" pitchFamily="18" charset="0"/>
              </a:rPr>
              <a:t>Sentiment Analysis</a:t>
            </a:r>
          </a:p>
          <a:p>
            <a:pPr marL="0" marR="0" algn="just"/>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Sentiment Analysis is the process of computationally determining whether a piece of writing is positive, negative or neutral. It’s also known as opinion mining, deriving the opinion or attitude of a speaker.</a:t>
            </a:r>
          </a:p>
          <a:p>
            <a:pPr algn="just"/>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For finding sentiment of text, there we have VADER tool present in python</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VADER (Valence Aware Dictionary and Sentiment Reasoner) is a lexicon and rule – base sentiment analysis tool that is specifically attuned to sentiments expressed in any kind of media. VADER uses a combination of a sentiment lexicon is a list of lexical features (e.g., words) which are generally labelled according to their semantic orientation as either positive or negative. VADER not only tells about the Positivity and Negativity score but also tells us about how positive or negative a sentiment is.</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spcAft>
                <a:spcPts val="0"/>
              </a:spcAft>
            </a:pPr>
            <a:r>
              <a:rPr lang="en-IN" sz="20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Compound score is a metric that calculates the sum of all the lexicon ratings which have been normalized between -1(most extreme negative) and +1 (most extreme positive).</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IN" sz="2000" spc="1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IN" sz="20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positive sentiment: (compound score &gt;= 0.05) </a:t>
            </a:r>
            <a:br>
              <a:rPr lang="en-IN" sz="2000" spc="1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20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neutral sentiment: (compound score &gt; -0.05) and (compound score &lt; 0.05) </a:t>
            </a:r>
            <a:br>
              <a:rPr lang="en-IN" sz="2000" spc="1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20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negative sentiment: (compound score &lt;= -0.05)</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08464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3BEDC3-4907-1651-EE77-6E858B6FC72F}"/>
              </a:ext>
            </a:extLst>
          </p:cNvPr>
          <p:cNvSpPr txBox="1"/>
          <p:nvPr/>
        </p:nvSpPr>
        <p:spPr>
          <a:xfrm>
            <a:off x="609600" y="457200"/>
            <a:ext cx="4953000" cy="400110"/>
          </a:xfrm>
          <a:prstGeom prst="rect">
            <a:avLst/>
          </a:prstGeom>
          <a:noFill/>
        </p:spPr>
        <p:txBody>
          <a:bodyPr wrap="square">
            <a:spAutoFit/>
          </a:bodyPr>
          <a:lstStyle/>
          <a:p>
            <a:pPr marL="0" marR="0"/>
            <a:r>
              <a:rPr lang="en-IN" sz="2000" dirty="0">
                <a:effectLst/>
                <a:latin typeface="Times New Roman" panose="02020603050405020304" pitchFamily="18" charset="0"/>
                <a:ea typeface="Times New Roman" panose="02020603050405020304" pitchFamily="18" charset="0"/>
              </a:rPr>
              <a:t>Result of Sentiment Analysis:</a:t>
            </a:r>
            <a:endParaRPr lang="en-US" sz="20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CEA750C1-03E4-56B9-5634-EFD72833F27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752600"/>
            <a:ext cx="7696200" cy="2514599"/>
          </a:xfrm>
          <a:prstGeom prst="rect">
            <a:avLst/>
          </a:prstGeom>
          <a:noFill/>
        </p:spPr>
      </p:pic>
    </p:spTree>
    <p:extLst>
      <p:ext uri="{BB962C8B-B14F-4D97-AF65-F5344CB8AC3E}">
        <p14:creationId xmlns:p14="http://schemas.microsoft.com/office/powerpoint/2010/main" val="3831921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A09FF-F67C-6CF2-FDFD-B40B6B1ABF50}"/>
              </a:ext>
            </a:extLst>
          </p:cNvPr>
          <p:cNvSpPr>
            <a:spLocks noGrp="1"/>
          </p:cNvSpPr>
          <p:nvPr>
            <p:ph type="title"/>
          </p:nvPr>
        </p:nvSpPr>
        <p:spPr/>
        <p:txBody>
          <a:bodyPr>
            <a:normAutofit/>
          </a:bodyPr>
          <a:lstStyle/>
          <a:p>
            <a:r>
              <a:rPr lang="en-US" sz="4000" u="sng" dirty="0"/>
              <a:t>ADVANTAGES AND DISADVANTAGES</a:t>
            </a:r>
            <a:endParaRPr lang="en-IN" sz="4000" u="sng" dirty="0"/>
          </a:p>
        </p:txBody>
      </p:sp>
      <p:sp>
        <p:nvSpPr>
          <p:cNvPr id="3" name="Content Placeholder 2">
            <a:extLst>
              <a:ext uri="{FF2B5EF4-FFF2-40B4-BE49-F238E27FC236}">
                <a16:creationId xmlns:a16="http://schemas.microsoft.com/office/drawing/2014/main" id="{2A5817C0-247E-D400-8315-19DEDC695661}"/>
              </a:ext>
            </a:extLst>
          </p:cNvPr>
          <p:cNvSpPr>
            <a:spLocks noGrp="1"/>
          </p:cNvSpPr>
          <p:nvPr>
            <p:ph idx="1"/>
          </p:nvPr>
        </p:nvSpPr>
        <p:spPr>
          <a:xfrm>
            <a:off x="495300" y="1600200"/>
            <a:ext cx="8915400" cy="4708531"/>
          </a:xfrm>
        </p:spPr>
        <p:txBody>
          <a:bodyPr>
            <a:normAutofit fontScale="92500" lnSpcReduction="10000"/>
          </a:bodyPr>
          <a:lstStyle/>
          <a:p>
            <a:pPr marL="0" indent="0">
              <a:lnSpc>
                <a:spcPct val="107000"/>
              </a:lnSpc>
              <a:buNone/>
            </a:pPr>
            <a:r>
              <a:rPr lang="en-IN" sz="3500" u="sng"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Advantages</a:t>
            </a:r>
            <a:r>
              <a:rPr lang="en-IN" sz="3500" u="none" strike="noStrike"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465"/>
              </a:spcAft>
            </a:pPr>
            <a:r>
              <a:rPr lang="en-US" sz="2600" i="0" dirty="0">
                <a:effectLst/>
                <a:latin typeface="Times New Roman" panose="02020603050405020304" pitchFamily="18" charset="0"/>
                <a:cs typeface="Times New Roman" panose="02020603050405020304" pitchFamily="18" charset="0"/>
              </a:rPr>
              <a:t>The benefits of sentiment analysis extend into your bottom line. With sentiment analysis, you can identify a dissatisfied customer as and when they’re chatting with your team. This enables your agents to offer a smooth service and quick resolution to appease, and ultimately retain, the customer.</a:t>
            </a:r>
          </a:p>
          <a:p>
            <a:pPr>
              <a:lnSpc>
                <a:spcPct val="107000"/>
              </a:lnSpc>
              <a:spcAft>
                <a:spcPts val="465"/>
              </a:spcAft>
            </a:pPr>
            <a:r>
              <a:rPr lang="en-US" sz="2600" i="0" dirty="0">
                <a:effectLst/>
                <a:latin typeface="Times New Roman" panose="02020603050405020304" pitchFamily="18" charset="0"/>
                <a:cs typeface="Times New Roman" panose="02020603050405020304" pitchFamily="18" charset="0"/>
              </a:rPr>
              <a:t>When sentiment analysis from text is applied, this gigantic pool of data helps a company gain actionable and relevant insights. AI-enabled sentiment analysis thus helps to improve products, better customer experience (CX), increase efficiency in operations, and in general, makes analyzing data simpler through automation.</a:t>
            </a:r>
          </a:p>
          <a:p>
            <a:endParaRPr lang="en-IN" dirty="0"/>
          </a:p>
        </p:txBody>
      </p:sp>
    </p:spTree>
    <p:extLst>
      <p:ext uri="{BB962C8B-B14F-4D97-AF65-F5344CB8AC3E}">
        <p14:creationId xmlns:p14="http://schemas.microsoft.com/office/powerpoint/2010/main" val="2004162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6683CF6-3F94-B6EF-04EB-7FD8118492C9}"/>
              </a:ext>
            </a:extLst>
          </p:cNvPr>
          <p:cNvSpPr txBox="1"/>
          <p:nvPr/>
        </p:nvSpPr>
        <p:spPr>
          <a:xfrm>
            <a:off x="905870" y="2987051"/>
            <a:ext cx="8094259" cy="2899383"/>
          </a:xfrm>
          <a:prstGeom prst="rect">
            <a:avLst/>
          </a:prstGeom>
          <a:noFill/>
        </p:spPr>
        <p:txBody>
          <a:bodyPr wrap="square">
            <a:spAutoFit/>
          </a:bodyPr>
          <a:lstStyle/>
          <a:p>
            <a:pPr marL="0" indent="0">
              <a:lnSpc>
                <a:spcPct val="107000"/>
              </a:lnSpc>
              <a:spcAft>
                <a:spcPts val="465"/>
              </a:spcAft>
              <a:buNone/>
            </a:pPr>
            <a:r>
              <a:rPr lang="en-IN" sz="3200" u="sng"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Disadvantages</a:t>
            </a:r>
            <a:r>
              <a:rPr lang="en-IN" sz="2800" b="0" u="none" strike="noStrike"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400" dirty="0">
                <a:solidFill>
                  <a:srgbClr val="000000"/>
                </a:solidFill>
                <a:effectLst/>
                <a:latin typeface="Calibri" panose="020F0502020204030204" pitchFamily="34" charset="0"/>
                <a:ea typeface="Calibri" panose="020F0502020204030204" pitchFamily="34" charset="0"/>
              </a:rPr>
              <a:t> </a:t>
            </a:r>
          </a:p>
          <a:p>
            <a:pPr algn="l">
              <a:buFont typeface="Arial" panose="020B0604020202020204"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Misspellings and grammatical mistakes may cause the analysis to overlook important words or usage.</a:t>
            </a:r>
          </a:p>
          <a:p>
            <a:pPr algn="l">
              <a:buFont typeface="Arial" panose="020B0604020202020204"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Sarcasm and irony may be misinterpreted.</a:t>
            </a:r>
          </a:p>
          <a:p>
            <a:pPr algn="l">
              <a:buFont typeface="Arial" panose="020B0604020202020204"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Analysis is language-specific.</a:t>
            </a:r>
          </a:p>
          <a:p>
            <a:pPr algn="l">
              <a:buFont typeface="Arial" panose="020B0604020202020204"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Discriminating jargon, nomenclature, memes, or turns of phrase may not be recognized.</a:t>
            </a:r>
          </a:p>
        </p:txBody>
      </p:sp>
      <p:sp>
        <p:nvSpPr>
          <p:cNvPr id="8" name="TextBox 7">
            <a:extLst>
              <a:ext uri="{FF2B5EF4-FFF2-40B4-BE49-F238E27FC236}">
                <a16:creationId xmlns:a16="http://schemas.microsoft.com/office/drawing/2014/main" id="{281F8D6B-9599-99CC-8957-E3C99F8DB80A}"/>
              </a:ext>
            </a:extLst>
          </p:cNvPr>
          <p:cNvSpPr txBox="1"/>
          <p:nvPr/>
        </p:nvSpPr>
        <p:spPr>
          <a:xfrm>
            <a:off x="891085" y="762000"/>
            <a:ext cx="7620000" cy="2041585"/>
          </a:xfrm>
          <a:prstGeom prst="rect">
            <a:avLst/>
          </a:prstGeom>
          <a:noFill/>
        </p:spPr>
        <p:txBody>
          <a:bodyPr wrap="square">
            <a:spAutoFit/>
          </a:bodyPr>
          <a:lstStyle/>
          <a:p>
            <a:pPr marL="285750" indent="-285750">
              <a:lnSpc>
                <a:spcPct val="107000"/>
              </a:lnSpc>
              <a:spcAft>
                <a:spcPts val="465"/>
              </a:spcAft>
              <a:buFont typeface="Arial" panose="020B0604020202020204" pitchFamily="34" charset="0"/>
              <a:buChar char="•"/>
            </a:pPr>
            <a:r>
              <a:rPr lang="en-US" sz="2400" i="0" dirty="0">
                <a:effectLst/>
                <a:latin typeface="Times New Roman" panose="02020603050405020304" pitchFamily="18" charset="0"/>
                <a:cs typeface="Times New Roman" panose="02020603050405020304" pitchFamily="18" charset="0"/>
              </a:rPr>
              <a:t>Sentiment analysis is the new kid on the live chat block. Only now are brands beginning to understand the benefits of sentiment analysis wrapped within their chat channels. This new technology detects the emotional </a:t>
            </a:r>
            <a:r>
              <a:rPr lang="en-US" sz="2400" dirty="0">
                <a:latin typeface="Times New Roman" panose="02020603050405020304" pitchFamily="18" charset="0"/>
                <a:cs typeface="Times New Roman" panose="02020603050405020304" pitchFamily="18" charset="0"/>
              </a:rPr>
              <a:t>tone </a:t>
            </a:r>
            <a:r>
              <a:rPr lang="en-US" sz="2400" i="0" dirty="0">
                <a:effectLst/>
                <a:latin typeface="Times New Roman" panose="02020603050405020304" pitchFamily="18" charset="0"/>
                <a:cs typeface="Times New Roman" panose="02020603050405020304" pitchFamily="18" charset="0"/>
              </a:rPr>
              <a:t>behind text, offering key insights into customer satisfaction.</a:t>
            </a:r>
          </a:p>
        </p:txBody>
      </p:sp>
    </p:spTree>
    <p:extLst>
      <p:ext uri="{BB962C8B-B14F-4D97-AF65-F5344CB8AC3E}">
        <p14:creationId xmlns:p14="http://schemas.microsoft.com/office/powerpoint/2010/main" val="14828347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D1274-282B-45C8-9004-551DD88F6FB6}"/>
              </a:ext>
            </a:extLst>
          </p:cNvPr>
          <p:cNvSpPr>
            <a:spLocks noGrp="1"/>
          </p:cNvSpPr>
          <p:nvPr>
            <p:ph type="title"/>
          </p:nvPr>
        </p:nvSpPr>
        <p:spPr/>
        <p:txBody>
          <a:bodyPr>
            <a:normAutofit/>
          </a:bodyPr>
          <a:lstStyle/>
          <a:p>
            <a:r>
              <a:rPr lang="en-US" sz="4000" u="sng" dirty="0"/>
              <a:t>APPLICATIONS</a:t>
            </a:r>
            <a:endParaRPr lang="en-IN" sz="4000" u="sng" dirty="0"/>
          </a:p>
        </p:txBody>
      </p:sp>
      <p:sp>
        <p:nvSpPr>
          <p:cNvPr id="3" name="Content Placeholder 2">
            <a:extLst>
              <a:ext uri="{FF2B5EF4-FFF2-40B4-BE49-F238E27FC236}">
                <a16:creationId xmlns:a16="http://schemas.microsoft.com/office/drawing/2014/main" id="{90CEE331-D7A5-E05B-781B-059030AC0BE4}"/>
              </a:ext>
            </a:extLst>
          </p:cNvPr>
          <p:cNvSpPr>
            <a:spLocks noGrp="1"/>
          </p:cNvSpPr>
          <p:nvPr>
            <p:ph idx="1"/>
          </p:nvPr>
        </p:nvSpPr>
        <p:spPr>
          <a:xfrm>
            <a:off x="495300" y="1371600"/>
            <a:ext cx="8915400" cy="4754569"/>
          </a:xfrm>
        </p:spPr>
        <p:txBody>
          <a:bodyPr/>
          <a:lstStyle/>
          <a:p>
            <a:pPr fontAlgn="base"/>
            <a:r>
              <a:rPr lang="en-US" sz="2000" dirty="0">
                <a:solidFill>
                  <a:srgbClr val="080809"/>
                </a:solidFill>
                <a:latin typeface="Times New Roman" panose="02020603050405020304" pitchFamily="18" charset="0"/>
                <a:cs typeface="Times New Roman" panose="02020603050405020304" pitchFamily="18" charset="0"/>
              </a:rPr>
              <a:t>Sentiment analysis methods will provide companies the ability to understand the meaning of the text and achieve comprehension and communication levels that are at par with humans.</a:t>
            </a:r>
          </a:p>
          <a:p>
            <a:pPr fontAlgn="base"/>
            <a:r>
              <a:rPr lang="en-US" sz="2000" dirty="0">
                <a:solidFill>
                  <a:srgbClr val="080809"/>
                </a:solidFill>
                <a:latin typeface="Times New Roman" panose="02020603050405020304" pitchFamily="18" charset="0"/>
                <a:cs typeface="Times New Roman" panose="02020603050405020304" pitchFamily="18" charset="0"/>
              </a:rPr>
              <a:t>These are the top five applications of sentiment analysis in 2022:</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Conversational chatbots</a:t>
            </a:r>
          </a:p>
          <a:p>
            <a:pPr>
              <a:buFont typeface="Wingdings" panose="05000000000000000000" pitchFamily="2" charset="2"/>
              <a:buChar char="Ø"/>
            </a:pPr>
            <a:r>
              <a:rPr lang="en-IN" sz="2000" b="0" i="0" dirty="0">
                <a:solidFill>
                  <a:srgbClr val="080809"/>
                </a:solidFill>
                <a:effectLst/>
                <a:latin typeface="Times New Roman" panose="02020603050405020304" pitchFamily="18" charset="0"/>
                <a:cs typeface="Times New Roman" panose="02020603050405020304" pitchFamily="18" charset="0"/>
              </a:rPr>
              <a:t>Automated ticketing support</a:t>
            </a:r>
          </a:p>
          <a:p>
            <a:pPr>
              <a:buFont typeface="Wingdings" panose="05000000000000000000" pitchFamily="2" charset="2"/>
              <a:buChar char="Ø"/>
            </a:pPr>
            <a:r>
              <a:rPr lang="en-IN" sz="2000" b="0" i="0" dirty="0">
                <a:solidFill>
                  <a:srgbClr val="080809"/>
                </a:solidFill>
                <a:effectLst/>
                <a:latin typeface="Times New Roman" panose="02020603050405020304" pitchFamily="18" charset="0"/>
                <a:cs typeface="Times New Roman" panose="02020603050405020304" pitchFamily="18" charset="0"/>
              </a:rPr>
              <a:t>Search engine results</a:t>
            </a:r>
          </a:p>
          <a:p>
            <a:pPr>
              <a:buFont typeface="Wingdings" panose="05000000000000000000" pitchFamily="2" charset="2"/>
              <a:buChar char="Ø"/>
            </a:pPr>
            <a:r>
              <a:rPr lang="en-IN" sz="2000" b="0" i="0" dirty="0">
                <a:solidFill>
                  <a:srgbClr val="080809"/>
                </a:solidFill>
                <a:effectLst/>
                <a:latin typeface="Times New Roman" panose="02020603050405020304" pitchFamily="18" charset="0"/>
                <a:cs typeface="Times New Roman" panose="02020603050405020304" pitchFamily="18" charset="0"/>
              </a:rPr>
              <a:t>Language translation</a:t>
            </a:r>
          </a:p>
          <a:p>
            <a:pPr>
              <a:buFont typeface="Wingdings" panose="05000000000000000000" pitchFamily="2" charset="2"/>
              <a:buChar char="Ø"/>
            </a:pPr>
            <a:r>
              <a:rPr lang="en-IN" sz="2000" b="0" i="0" dirty="0">
                <a:solidFill>
                  <a:srgbClr val="080809"/>
                </a:solidFill>
                <a:effectLst/>
                <a:latin typeface="Times New Roman" panose="02020603050405020304" pitchFamily="18" charset="0"/>
                <a:cs typeface="Times New Roman" panose="02020603050405020304" pitchFamily="18" charset="0"/>
              </a:rPr>
              <a:t>Sentiment analysis</a:t>
            </a:r>
          </a:p>
          <a:p>
            <a:pPr marL="0" indent="0">
              <a:buNone/>
            </a:pPr>
            <a:r>
              <a:rPr lang="en-IN" sz="1800" b="0" i="0" dirty="0">
                <a:solidFill>
                  <a:srgbClr val="080809"/>
                </a:solidFill>
                <a:effectLst/>
                <a:latin typeface="Roboto" panose="02000000000000000000" pitchFamily="2" charset="0"/>
              </a:rPr>
              <a:t>        </a:t>
            </a:r>
            <a:endParaRPr lang="en-IN" sz="1800" dirty="0"/>
          </a:p>
        </p:txBody>
      </p:sp>
      <p:pic>
        <p:nvPicPr>
          <p:cNvPr id="7" name="Picture 6">
            <a:extLst>
              <a:ext uri="{FF2B5EF4-FFF2-40B4-BE49-F238E27FC236}">
                <a16:creationId xmlns:a16="http://schemas.microsoft.com/office/drawing/2014/main" id="{F93ACAE0-8B8A-A826-824D-8799C65BCE54}"/>
              </a:ext>
            </a:extLst>
          </p:cNvPr>
          <p:cNvPicPr>
            <a:picLocks noChangeAspect="1"/>
          </p:cNvPicPr>
          <p:nvPr/>
        </p:nvPicPr>
        <p:blipFill>
          <a:blip r:embed="rId2"/>
          <a:stretch>
            <a:fillRect/>
          </a:stretch>
        </p:blipFill>
        <p:spPr>
          <a:xfrm>
            <a:off x="4495800" y="3459169"/>
            <a:ext cx="4495800" cy="2667000"/>
          </a:xfrm>
          <a:prstGeom prst="rect">
            <a:avLst/>
          </a:prstGeom>
        </p:spPr>
      </p:pic>
    </p:spTree>
    <p:extLst>
      <p:ext uri="{BB962C8B-B14F-4D97-AF65-F5344CB8AC3E}">
        <p14:creationId xmlns:p14="http://schemas.microsoft.com/office/powerpoint/2010/main" val="1044900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FE2F6-E55D-D8B2-7F09-B0983A74C4C7}"/>
              </a:ext>
            </a:extLst>
          </p:cNvPr>
          <p:cNvSpPr>
            <a:spLocks noGrp="1"/>
          </p:cNvSpPr>
          <p:nvPr>
            <p:ph type="title"/>
          </p:nvPr>
        </p:nvSpPr>
        <p:spPr/>
        <p:txBody>
          <a:bodyPr>
            <a:normAutofit/>
          </a:bodyPr>
          <a:lstStyle/>
          <a:p>
            <a:r>
              <a:rPr lang="en-US" sz="4000" u="sng" dirty="0">
                <a:latin typeface="Times New Roman" panose="02020603050405020304" pitchFamily="18" charset="0"/>
                <a:cs typeface="Times New Roman" panose="02020603050405020304" pitchFamily="18" charset="0"/>
              </a:rPr>
              <a:t>CONCLUSIONS</a:t>
            </a:r>
            <a:endParaRPr lang="en-IN" sz="40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49CB3B-A095-B7F1-FF98-7492D6DD9AD8}"/>
              </a:ext>
            </a:extLst>
          </p:cNvPr>
          <p:cNvSpPr>
            <a:spLocks noGrp="1"/>
          </p:cNvSpPr>
          <p:nvPr>
            <p:ph idx="1"/>
          </p:nvPr>
        </p:nvSpPr>
        <p:spPr>
          <a:xfrm>
            <a:off x="495300" y="1417638"/>
            <a:ext cx="8915400" cy="4708531"/>
          </a:xfrm>
        </p:spPr>
        <p:txBody>
          <a:bodyPr>
            <a:normAutofit/>
          </a:bodyPr>
          <a:lstStyle/>
          <a:p>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At present, most of the work of sentiment analysis focuses on the research   of sentiment polarity directly presented by the text.</a:t>
            </a:r>
          </a:p>
          <a:p>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Sentiment analysis is an evolving field with a variety of use applications. Although sentiment analysis tasks are challenging due to their natural language processing origins, much progress has been made over the last few years due to high demand for it. Not only do companies want to know how their products and services are perceived by consumers (and compare to competitors), but consumers want to know the opinions of others before making buying decisions.</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10404604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E7FDAC-66E3-67E9-981F-B33EAF83508B}"/>
              </a:ext>
            </a:extLst>
          </p:cNvPr>
          <p:cNvSpPr>
            <a:spLocks noGrp="1"/>
          </p:cNvSpPr>
          <p:nvPr>
            <p:ph idx="1"/>
          </p:nvPr>
        </p:nvSpPr>
        <p:spPr>
          <a:xfrm>
            <a:off x="495300" y="609600"/>
            <a:ext cx="8915400" cy="5516569"/>
          </a:xfrm>
        </p:spPr>
        <p:txBody>
          <a:bodyPr>
            <a:noAutofit/>
          </a:bodyPr>
          <a:lstStyle/>
          <a:p>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The growing need for product insights- and the technical challenges currently facing the field – will keep sentiment analysis and opinion mining relevant for the foreseeable future. Next – generation opinion mining systems need a deeper bind between complete knowledge bases with reasoning methods inspired by human thought and psychology. This will lead to a better understanding of natural language opinions and will more efficiently bridge the gap between unstructured information in the form of human thoughts and structure data that can be analysed and processed by a machine</a:t>
            </a:r>
          </a:p>
          <a:p>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The result: Intelligent opinion mining systems capable of handling semantic knowledge, making analogies, continuous learning, and detecting emotions – leading to highly efficient sentiment analysis.</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37173571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870E7-3115-A038-388D-2BC96CFBA30B}"/>
              </a:ext>
            </a:extLst>
          </p:cNvPr>
          <p:cNvSpPr>
            <a:spLocks noGrp="1"/>
          </p:cNvSpPr>
          <p:nvPr>
            <p:ph type="title"/>
          </p:nvPr>
        </p:nvSpPr>
        <p:spPr>
          <a:xfrm>
            <a:off x="396876" y="140490"/>
            <a:ext cx="8915400" cy="1143000"/>
          </a:xfrm>
        </p:spPr>
        <p:txBody>
          <a:bodyPr>
            <a:normAutofit/>
          </a:bodyPr>
          <a:lstStyle/>
          <a:p>
            <a:r>
              <a:rPr lang="en-US" sz="4000" u="sng" dirty="0"/>
              <a:t>REFERENCES</a:t>
            </a:r>
            <a:endParaRPr lang="en-IN" sz="4000" u="sng" dirty="0"/>
          </a:p>
        </p:txBody>
      </p:sp>
      <p:sp>
        <p:nvSpPr>
          <p:cNvPr id="3" name="Content Placeholder 2">
            <a:extLst>
              <a:ext uri="{FF2B5EF4-FFF2-40B4-BE49-F238E27FC236}">
                <a16:creationId xmlns:a16="http://schemas.microsoft.com/office/drawing/2014/main" id="{027AF372-29FC-08AE-8D1A-0E27DD157377}"/>
              </a:ext>
            </a:extLst>
          </p:cNvPr>
          <p:cNvSpPr>
            <a:spLocks noGrp="1"/>
          </p:cNvSpPr>
          <p:nvPr>
            <p:ph idx="1"/>
          </p:nvPr>
        </p:nvSpPr>
        <p:spPr>
          <a:xfrm>
            <a:off x="228600" y="1166018"/>
            <a:ext cx="9448800" cy="4525963"/>
          </a:xfrm>
        </p:spPr>
        <p:txBody>
          <a:bodyPr>
            <a:noAutofit/>
          </a:bodyPr>
          <a:lstStyle/>
          <a:p>
            <a:pPr marL="0" marR="0" lvl="0" indent="0">
              <a:buNone/>
            </a:pPr>
            <a:r>
              <a:rPr lang="en-IN" sz="2400" dirty="0">
                <a:effectLst/>
                <a:latin typeface="Times New Roman" panose="02020603050405020304" pitchFamily="18" charset="0"/>
                <a:ea typeface="Times New Roman" panose="02020603050405020304" pitchFamily="18" charset="0"/>
              </a:rPr>
              <a:t>* A guide to sentiment analysis: What is it and how does it work?</a:t>
            </a:r>
            <a:br>
              <a:rPr lang="en-IN" sz="2400" dirty="0">
                <a:effectLst/>
                <a:latin typeface="Times New Roman" panose="02020603050405020304" pitchFamily="18" charset="0"/>
                <a:ea typeface="Times New Roman" panose="02020603050405020304" pitchFamily="18" charset="0"/>
              </a:rPr>
            </a:br>
            <a:r>
              <a:rPr lang="en-IN" sz="2400" dirty="0">
                <a:effectLst/>
                <a:latin typeface="Times New Roman" panose="02020603050405020304" pitchFamily="18" charset="0"/>
                <a:ea typeface="Times New Roman" panose="02020603050405020304" pitchFamily="18" charset="0"/>
              </a:rPr>
              <a:t>(https://awario.com/blog/sentiment-analysis/#anchor3)</a:t>
            </a:r>
            <a:br>
              <a:rPr lang="en-IN" sz="2400" dirty="0">
                <a:effectLst/>
                <a:latin typeface="Times New Roman" panose="02020603050405020304" pitchFamily="18" charset="0"/>
                <a:ea typeface="Times New Roman" panose="02020603050405020304" pitchFamily="18" charset="0"/>
              </a:rPr>
            </a:br>
            <a:endParaRPr lang="en-US" sz="2400" dirty="0">
              <a:effectLst/>
              <a:latin typeface="Times New Roman" panose="02020603050405020304" pitchFamily="18" charset="0"/>
              <a:ea typeface="Times New Roman" panose="02020603050405020304" pitchFamily="18" charset="0"/>
            </a:endParaRPr>
          </a:p>
          <a:p>
            <a:pPr marL="0" marR="0" lvl="0" indent="0">
              <a:buNone/>
            </a:pPr>
            <a:r>
              <a:rPr lang="en-IN" sz="2400" dirty="0">
                <a:effectLst/>
                <a:latin typeface="Times New Roman" panose="02020603050405020304" pitchFamily="18" charset="0"/>
                <a:ea typeface="Times New Roman" panose="02020603050405020304" pitchFamily="18" charset="0"/>
              </a:rPr>
              <a:t>* Sentiment Analysis and Professor Dan </a:t>
            </a:r>
            <a:r>
              <a:rPr lang="en-IN" sz="2400" dirty="0" err="1">
                <a:effectLst/>
                <a:latin typeface="Times New Roman" panose="02020603050405020304" pitchFamily="18" charset="0"/>
                <a:ea typeface="Times New Roman" panose="02020603050405020304" pitchFamily="18" charset="0"/>
              </a:rPr>
              <a:t>Jurafsky</a:t>
            </a:r>
            <a:br>
              <a:rPr lang="en-IN" sz="2400" dirty="0">
                <a:effectLst/>
                <a:latin typeface="Times New Roman" panose="02020603050405020304" pitchFamily="18" charset="0"/>
                <a:ea typeface="Times New Roman" panose="02020603050405020304" pitchFamily="18" charset="0"/>
              </a:rPr>
            </a:br>
            <a:r>
              <a:rPr lang="en-IN" sz="2400" dirty="0">
                <a:effectLst/>
                <a:latin typeface="Times New Roman" panose="02020603050405020304" pitchFamily="18" charset="0"/>
                <a:ea typeface="Times New Roman" panose="02020603050405020304" pitchFamily="18" charset="0"/>
              </a:rPr>
              <a:t>(https://web.standford.edu/class/cs124/lec/ sentiment.pdf)</a:t>
            </a:r>
            <a:br>
              <a:rPr lang="en-IN" sz="2400" dirty="0">
                <a:effectLst/>
                <a:latin typeface="Times New Roman" panose="02020603050405020304" pitchFamily="18" charset="0"/>
                <a:ea typeface="Times New Roman" panose="02020603050405020304" pitchFamily="18" charset="0"/>
              </a:rPr>
            </a:br>
            <a:endParaRPr lang="en-US" sz="2400" dirty="0">
              <a:effectLst/>
              <a:latin typeface="Times New Roman" panose="02020603050405020304" pitchFamily="18" charset="0"/>
              <a:ea typeface="Times New Roman" panose="02020603050405020304" pitchFamily="18" charset="0"/>
            </a:endParaRPr>
          </a:p>
          <a:p>
            <a:pPr marL="0" marR="0" lvl="0" indent="0">
              <a:buNone/>
            </a:pPr>
            <a:r>
              <a:rPr lang="en-IN" sz="2400" dirty="0">
                <a:effectLst/>
                <a:latin typeface="Times New Roman" panose="02020603050405020304" pitchFamily="18" charset="0"/>
                <a:ea typeface="Times New Roman" panose="02020603050405020304" pitchFamily="18" charset="0"/>
              </a:rPr>
              <a:t>* Sentiment Analysis using Vader by </a:t>
            </a:r>
            <a:r>
              <a:rPr lang="en-IN" sz="2400" dirty="0" err="1">
                <a:effectLst/>
                <a:latin typeface="Times New Roman" panose="02020603050405020304" pitchFamily="18" charset="0"/>
                <a:ea typeface="Times New Roman" panose="02020603050405020304" pitchFamily="18" charset="0"/>
              </a:rPr>
              <a:t>Boula</a:t>
            </a:r>
            <a:r>
              <a:rPr lang="en-IN" sz="2400" dirty="0">
                <a:effectLst/>
                <a:latin typeface="Times New Roman" panose="02020603050405020304" pitchFamily="18" charset="0"/>
                <a:ea typeface="Times New Roman" panose="02020603050405020304" pitchFamily="18" charset="0"/>
              </a:rPr>
              <a:t> </a:t>
            </a:r>
            <a:r>
              <a:rPr lang="en-IN" sz="2400" dirty="0" err="1">
                <a:effectLst/>
                <a:latin typeface="Times New Roman" panose="02020603050405020304" pitchFamily="18" charset="0"/>
                <a:ea typeface="Times New Roman" panose="02020603050405020304" pitchFamily="18" charset="0"/>
              </a:rPr>
              <a:t>Akaldyous</a:t>
            </a:r>
            <a:br>
              <a:rPr lang="en-IN" sz="2400" dirty="0">
                <a:effectLst/>
                <a:latin typeface="Times New Roman" panose="02020603050405020304" pitchFamily="18" charset="0"/>
                <a:ea typeface="Times New Roman" panose="02020603050405020304" pitchFamily="18" charset="0"/>
              </a:rPr>
            </a:br>
            <a:r>
              <a:rPr lang="en-IN" sz="2400" dirty="0">
                <a:effectLst/>
                <a:latin typeface="Times New Roman" panose="02020603050405020304" pitchFamily="18" charset="0"/>
                <a:ea typeface="Times New Roman" panose="02020603050405020304" pitchFamily="18" charset="0"/>
              </a:rPr>
              <a:t>(https://akladyous.medium.com/sentiment-analysis-using-vader-c56bcffe6f24#:~:text=%20Sentiment%20Analysis%20using%20VADER%20%201%20Introduction.,rule-based%20sentiment%20analysis...%206%20Conclusion.%20%20More%20)</a:t>
            </a:r>
            <a:br>
              <a:rPr lang="en-IN" sz="2400" dirty="0">
                <a:effectLst/>
                <a:latin typeface="Times New Roman" panose="02020603050405020304" pitchFamily="18" charset="0"/>
                <a:ea typeface="Times New Roman" panose="02020603050405020304" pitchFamily="18" charset="0"/>
              </a:rPr>
            </a:br>
            <a:endParaRPr lang="en-US" sz="2400" dirty="0">
              <a:effectLst/>
              <a:latin typeface="Times New Roman" panose="02020603050405020304" pitchFamily="18" charset="0"/>
              <a:ea typeface="Times New Roman" panose="02020603050405020304" pitchFamily="18" charset="0"/>
            </a:endParaRPr>
          </a:p>
          <a:p>
            <a:pPr marL="1905" indent="0" algn="just">
              <a:lnSpc>
                <a:spcPct val="110000"/>
              </a:lnSpc>
              <a:spcAft>
                <a:spcPts val="25"/>
              </a:spcAft>
              <a:buNone/>
            </a:pPr>
            <a:endParaRPr lang="en-IN" sz="2400" dirty="0">
              <a:solidFill>
                <a:srgbClr val="000000"/>
              </a:solidFill>
              <a:effectLst/>
              <a:latin typeface="Calibri" panose="020F0502020204030204" pitchFamily="34" charset="0"/>
              <a:ea typeface="Calibri" panose="020F0502020204030204" pitchFamily="34" charset="0"/>
            </a:endParaRPr>
          </a:p>
        </p:txBody>
      </p:sp>
      <p:sp>
        <p:nvSpPr>
          <p:cNvPr id="5" name="Rectangle 2">
            <a:extLst>
              <a:ext uri="{FF2B5EF4-FFF2-40B4-BE49-F238E27FC236}">
                <a16:creationId xmlns:a16="http://schemas.microsoft.com/office/drawing/2014/main" id="{AA23240F-A3CA-A203-E082-15A38DC87E23}"/>
              </a:ext>
            </a:extLst>
          </p:cNvPr>
          <p:cNvSpPr>
            <a:spLocks noChangeArrowheads="1"/>
          </p:cNvSpPr>
          <p:nvPr/>
        </p:nvSpPr>
        <p:spPr bwMode="auto">
          <a:xfrm>
            <a:off x="0" y="0"/>
            <a:ext cx="990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Rectangle 11">
            <a:extLst>
              <a:ext uri="{FF2B5EF4-FFF2-40B4-BE49-F238E27FC236}">
                <a16:creationId xmlns:a16="http://schemas.microsoft.com/office/drawing/2014/main" id="{8138B219-55F0-6864-7E6F-FE193663EF14}"/>
              </a:ext>
            </a:extLst>
          </p:cNvPr>
          <p:cNvSpPr>
            <a:spLocks noChangeArrowheads="1"/>
          </p:cNvSpPr>
          <p:nvPr/>
        </p:nvSpPr>
        <p:spPr bwMode="auto">
          <a:xfrm>
            <a:off x="152400" y="-98425"/>
            <a:ext cx="990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12">
            <a:extLst>
              <a:ext uri="{FF2B5EF4-FFF2-40B4-BE49-F238E27FC236}">
                <a16:creationId xmlns:a16="http://schemas.microsoft.com/office/drawing/2014/main" id="{0C3713C0-F886-863B-20FB-67C75090B737}"/>
              </a:ext>
            </a:extLst>
          </p:cNvPr>
          <p:cNvSpPr>
            <a:spLocks noChangeArrowheads="1"/>
          </p:cNvSpPr>
          <p:nvPr/>
        </p:nvSpPr>
        <p:spPr bwMode="auto">
          <a:xfrm>
            <a:off x="396876" y="3148021"/>
            <a:ext cx="68753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tabLst>
                <a:tab pos="1874838" algn="ctr"/>
                <a:tab pos="2768600" algn="ctr"/>
                <a:tab pos="3765550" algn="ctr"/>
                <a:tab pos="4946650" algn="ctr"/>
              </a:tabLst>
              <a:defRPr>
                <a:solidFill>
                  <a:schemeClr val="tx1"/>
                </a:solidFill>
                <a:latin typeface="Arial" panose="020B0604020202020204" pitchFamily="34" charset="0"/>
              </a:defRPr>
            </a:lvl1pPr>
            <a:lvl2pPr eaLnBrk="0" fontAlgn="base" hangingPunct="0">
              <a:spcBef>
                <a:spcPct val="0"/>
              </a:spcBef>
              <a:spcAft>
                <a:spcPct val="0"/>
              </a:spcAft>
              <a:tabLst>
                <a:tab pos="1874838" algn="ctr"/>
                <a:tab pos="2768600" algn="ctr"/>
                <a:tab pos="3765550" algn="ctr"/>
                <a:tab pos="4946650" algn="ctr"/>
              </a:tabLst>
              <a:defRPr>
                <a:solidFill>
                  <a:schemeClr val="tx1"/>
                </a:solidFill>
                <a:latin typeface="Arial" panose="020B0604020202020204" pitchFamily="34" charset="0"/>
              </a:defRPr>
            </a:lvl2pPr>
            <a:lvl3pPr eaLnBrk="0" fontAlgn="base" hangingPunct="0">
              <a:spcBef>
                <a:spcPct val="0"/>
              </a:spcBef>
              <a:spcAft>
                <a:spcPct val="0"/>
              </a:spcAft>
              <a:tabLst>
                <a:tab pos="1874838" algn="ctr"/>
                <a:tab pos="2768600" algn="ctr"/>
                <a:tab pos="3765550" algn="ctr"/>
                <a:tab pos="4946650" algn="ctr"/>
              </a:tabLst>
              <a:defRPr>
                <a:solidFill>
                  <a:schemeClr val="tx1"/>
                </a:solidFill>
                <a:latin typeface="Arial" panose="020B0604020202020204" pitchFamily="34" charset="0"/>
              </a:defRPr>
            </a:lvl3pPr>
            <a:lvl4pPr eaLnBrk="0" fontAlgn="base" hangingPunct="0">
              <a:spcBef>
                <a:spcPct val="0"/>
              </a:spcBef>
              <a:spcAft>
                <a:spcPct val="0"/>
              </a:spcAft>
              <a:tabLst>
                <a:tab pos="1874838" algn="ctr"/>
                <a:tab pos="2768600" algn="ctr"/>
                <a:tab pos="3765550" algn="ctr"/>
                <a:tab pos="4946650" algn="ctr"/>
              </a:tabLst>
              <a:defRPr>
                <a:solidFill>
                  <a:schemeClr val="tx1"/>
                </a:solidFill>
                <a:latin typeface="Arial" panose="020B0604020202020204" pitchFamily="34" charset="0"/>
              </a:defRPr>
            </a:lvl4pPr>
            <a:lvl5pPr eaLnBrk="0" fontAlgn="base" hangingPunct="0">
              <a:spcBef>
                <a:spcPct val="0"/>
              </a:spcBef>
              <a:spcAft>
                <a:spcPct val="0"/>
              </a:spcAft>
              <a:tabLst>
                <a:tab pos="1874838" algn="ctr"/>
                <a:tab pos="2768600" algn="ctr"/>
                <a:tab pos="3765550" algn="ctr"/>
                <a:tab pos="4946650" algn="ctr"/>
              </a:tabLst>
              <a:defRPr>
                <a:solidFill>
                  <a:schemeClr val="tx1"/>
                </a:solidFill>
                <a:latin typeface="Arial" panose="020B0604020202020204" pitchFamily="34" charset="0"/>
              </a:defRPr>
            </a:lvl5pPr>
            <a:lvl6pPr eaLnBrk="0" fontAlgn="base" hangingPunct="0">
              <a:spcBef>
                <a:spcPct val="0"/>
              </a:spcBef>
              <a:spcAft>
                <a:spcPct val="0"/>
              </a:spcAft>
              <a:tabLst>
                <a:tab pos="1874838" algn="ctr"/>
                <a:tab pos="2768600" algn="ctr"/>
                <a:tab pos="3765550" algn="ctr"/>
                <a:tab pos="4946650" algn="ctr"/>
              </a:tabLst>
              <a:defRPr>
                <a:solidFill>
                  <a:schemeClr val="tx1"/>
                </a:solidFill>
                <a:latin typeface="Arial" panose="020B0604020202020204" pitchFamily="34" charset="0"/>
              </a:defRPr>
            </a:lvl6pPr>
            <a:lvl7pPr eaLnBrk="0" fontAlgn="base" hangingPunct="0">
              <a:spcBef>
                <a:spcPct val="0"/>
              </a:spcBef>
              <a:spcAft>
                <a:spcPct val="0"/>
              </a:spcAft>
              <a:tabLst>
                <a:tab pos="1874838" algn="ctr"/>
                <a:tab pos="2768600" algn="ctr"/>
                <a:tab pos="3765550" algn="ctr"/>
                <a:tab pos="4946650" algn="ctr"/>
              </a:tabLst>
              <a:defRPr>
                <a:solidFill>
                  <a:schemeClr val="tx1"/>
                </a:solidFill>
                <a:latin typeface="Arial" panose="020B0604020202020204" pitchFamily="34" charset="0"/>
              </a:defRPr>
            </a:lvl7pPr>
            <a:lvl8pPr eaLnBrk="0" fontAlgn="base" hangingPunct="0">
              <a:spcBef>
                <a:spcPct val="0"/>
              </a:spcBef>
              <a:spcAft>
                <a:spcPct val="0"/>
              </a:spcAft>
              <a:tabLst>
                <a:tab pos="1874838" algn="ctr"/>
                <a:tab pos="2768600" algn="ctr"/>
                <a:tab pos="3765550" algn="ctr"/>
                <a:tab pos="4946650" algn="ctr"/>
              </a:tabLst>
              <a:defRPr>
                <a:solidFill>
                  <a:schemeClr val="tx1"/>
                </a:solidFill>
                <a:latin typeface="Arial" panose="020B0604020202020204" pitchFamily="34" charset="0"/>
              </a:defRPr>
            </a:lvl8pPr>
            <a:lvl9pPr eaLnBrk="0" fontAlgn="base" hangingPunct="0">
              <a:spcBef>
                <a:spcPct val="0"/>
              </a:spcBef>
              <a:spcAft>
                <a:spcPct val="0"/>
              </a:spcAft>
              <a:tabLst>
                <a:tab pos="1874838" algn="ctr"/>
                <a:tab pos="2768600" algn="ctr"/>
                <a:tab pos="3765550" algn="ctr"/>
                <a:tab pos="4946650" algn="ctr"/>
              </a:tabLs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tabLst>
                <a:tab pos="1874838" algn="ctr"/>
                <a:tab pos="2768600" algn="ctr"/>
                <a:tab pos="3765550" algn="ctr"/>
                <a:tab pos="4946650" algn="ct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92183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193A5A-F7E2-4E71-57CA-A80C235749DB}"/>
              </a:ext>
            </a:extLst>
          </p:cNvPr>
          <p:cNvSpPr>
            <a:spLocks noGrp="1"/>
          </p:cNvSpPr>
          <p:nvPr>
            <p:ph idx="1"/>
          </p:nvPr>
        </p:nvSpPr>
        <p:spPr>
          <a:xfrm>
            <a:off x="495300" y="304800"/>
            <a:ext cx="8915400" cy="5821369"/>
          </a:xfrm>
        </p:spPr>
        <p:txBody>
          <a:bodyPr>
            <a:noAutofit/>
          </a:bodyPr>
          <a:lstStyle/>
          <a:p>
            <a:pPr marL="0" marR="0" lvl="0" indent="0">
              <a:buNone/>
            </a:pPr>
            <a:r>
              <a:rPr lang="en-IN" sz="2400" dirty="0">
                <a:latin typeface="Times New Roman" panose="02020603050405020304" pitchFamily="18" charset="0"/>
                <a:ea typeface="Times New Roman" panose="02020603050405020304" pitchFamily="18" charset="0"/>
              </a:rPr>
              <a:t>* </a:t>
            </a:r>
            <a:r>
              <a:rPr lang="en-IN" sz="2400" dirty="0">
                <a:effectLst/>
                <a:latin typeface="Times New Roman" panose="02020603050405020304" pitchFamily="18" charset="0"/>
                <a:ea typeface="Times New Roman" panose="02020603050405020304" pitchFamily="18" charset="0"/>
              </a:rPr>
              <a:t>NLP sentiment Analysis Using Vader- Analytics Vidhya</a:t>
            </a:r>
            <a:br>
              <a:rPr lang="en-IN" sz="2400" dirty="0">
                <a:effectLst/>
                <a:latin typeface="Times New Roman" panose="02020603050405020304" pitchFamily="18" charset="0"/>
                <a:ea typeface="Times New Roman" panose="02020603050405020304" pitchFamily="18" charset="0"/>
              </a:rPr>
            </a:br>
            <a:r>
              <a:rPr lang="en-IN" sz="2400" dirty="0">
                <a:effectLst/>
                <a:latin typeface="Times New Roman" panose="02020603050405020304" pitchFamily="18" charset="0"/>
                <a:ea typeface="Times New Roman" panose="02020603050405020304" pitchFamily="18" charset="0"/>
              </a:rPr>
              <a:t>(https://www.analyticsvidhya.com/blog/2021/06/vader-for-sentiment-analysis/)</a:t>
            </a:r>
            <a:br>
              <a:rPr lang="en-IN" sz="2400" dirty="0">
                <a:effectLst/>
                <a:latin typeface="Times New Roman" panose="02020603050405020304" pitchFamily="18" charset="0"/>
                <a:ea typeface="Times New Roman" panose="02020603050405020304" pitchFamily="18" charset="0"/>
              </a:rPr>
            </a:br>
            <a:endParaRPr lang="en-US" sz="2400" dirty="0">
              <a:effectLst/>
              <a:latin typeface="Times New Roman" panose="02020603050405020304" pitchFamily="18" charset="0"/>
              <a:ea typeface="Times New Roman" panose="02020603050405020304" pitchFamily="18" charset="0"/>
            </a:endParaRPr>
          </a:p>
          <a:p>
            <a:pPr marL="0" marR="0" lvl="0" indent="0">
              <a:buNone/>
            </a:pPr>
            <a:r>
              <a:rPr lang="en-IN" sz="2400" dirty="0">
                <a:effectLst/>
                <a:latin typeface="Times New Roman" panose="02020603050405020304" pitchFamily="18" charset="0"/>
                <a:ea typeface="Times New Roman" panose="02020603050405020304" pitchFamily="18" charset="0"/>
              </a:rPr>
              <a:t>* Sentiment Analysis: A Definitive Guide</a:t>
            </a:r>
            <a:br>
              <a:rPr lang="en-IN" sz="2400" dirty="0">
                <a:effectLst/>
                <a:latin typeface="Times New Roman" panose="02020603050405020304" pitchFamily="18" charset="0"/>
                <a:ea typeface="Times New Roman" panose="02020603050405020304" pitchFamily="18" charset="0"/>
              </a:rPr>
            </a:br>
            <a:r>
              <a:rPr lang="en-IN" sz="2400" dirty="0">
                <a:effectLst/>
                <a:latin typeface="Times New Roman" panose="02020603050405020304" pitchFamily="18" charset="0"/>
                <a:ea typeface="Times New Roman" panose="02020603050405020304" pitchFamily="18" charset="0"/>
              </a:rPr>
              <a:t>(https://monkeylearn.com/sentiment-analysis/)</a:t>
            </a:r>
            <a:br>
              <a:rPr lang="en-IN" sz="2400" dirty="0">
                <a:effectLst/>
                <a:latin typeface="Times New Roman" panose="02020603050405020304" pitchFamily="18" charset="0"/>
                <a:ea typeface="Times New Roman" panose="02020603050405020304" pitchFamily="18" charset="0"/>
              </a:rPr>
            </a:br>
            <a:endParaRPr lang="en-US" sz="2400" dirty="0">
              <a:effectLst/>
              <a:latin typeface="Times New Roman" panose="02020603050405020304" pitchFamily="18" charset="0"/>
              <a:ea typeface="Times New Roman" panose="02020603050405020304" pitchFamily="18" charset="0"/>
            </a:endParaRPr>
          </a:p>
          <a:p>
            <a:pPr marL="0" marR="0" lvl="0" indent="0">
              <a:buNone/>
            </a:pPr>
            <a:r>
              <a:rPr lang="en-IN" sz="2400" dirty="0">
                <a:effectLst/>
                <a:latin typeface="Times New Roman" panose="02020603050405020304" pitchFamily="18" charset="0"/>
                <a:ea typeface="Times New Roman" panose="02020603050405020304" pitchFamily="18" charset="0"/>
              </a:rPr>
              <a:t>*Sentiment Analysis and opinion mining by Bing Liu </a:t>
            </a:r>
            <a:br>
              <a:rPr lang="en-IN" sz="2400" dirty="0">
                <a:effectLst/>
                <a:latin typeface="Times New Roman" panose="02020603050405020304" pitchFamily="18" charset="0"/>
                <a:ea typeface="Times New Roman" panose="02020603050405020304" pitchFamily="18" charset="0"/>
              </a:rPr>
            </a:br>
            <a:r>
              <a:rPr lang="en-IN" sz="2400" dirty="0">
                <a:effectLst/>
                <a:latin typeface="Times New Roman" panose="02020603050405020304" pitchFamily="18" charset="0"/>
                <a:ea typeface="Times New Roman" panose="02020603050405020304" pitchFamily="18" charset="0"/>
              </a:rPr>
              <a:t>(http://www.cs.uic.edu/~liub/FBS/SentimentAnalysisand-OpinionMining.html)</a:t>
            </a:r>
            <a:br>
              <a:rPr lang="en-IN" sz="2400" dirty="0">
                <a:effectLst/>
                <a:latin typeface="Times New Roman" panose="02020603050405020304" pitchFamily="18" charset="0"/>
                <a:ea typeface="Times New Roman" panose="02020603050405020304" pitchFamily="18" charset="0"/>
              </a:rPr>
            </a:br>
            <a:endParaRPr lang="en-US" sz="2400" dirty="0">
              <a:effectLst/>
              <a:latin typeface="Times New Roman" panose="02020603050405020304" pitchFamily="18" charset="0"/>
              <a:ea typeface="Times New Roman" panose="02020603050405020304" pitchFamily="18" charset="0"/>
            </a:endParaRPr>
          </a:p>
          <a:p>
            <a:pPr marL="0" marR="0" lvl="0" indent="0">
              <a:buNone/>
            </a:pPr>
            <a:r>
              <a:rPr lang="en-IN" sz="2400" dirty="0">
                <a:effectLst/>
                <a:latin typeface="Times New Roman" panose="02020603050405020304" pitchFamily="18" charset="0"/>
                <a:ea typeface="Times New Roman" panose="02020603050405020304" pitchFamily="18" charset="0"/>
              </a:rPr>
              <a:t>* Deep Learning based Text Detection Using OpenCV (C++/Python) (https://learnopencv.com/deep-learning-based-text-detection-using-opencv-c-python/)</a:t>
            </a:r>
            <a:endParaRPr lang="en-US" sz="2400" dirty="0">
              <a:effectLst/>
              <a:latin typeface="Times New Roman" panose="02020603050405020304" pitchFamily="18" charset="0"/>
              <a:ea typeface="Times New Roman" panose="02020603050405020304" pitchFamily="18" charset="0"/>
            </a:endParaRPr>
          </a:p>
          <a:p>
            <a:endParaRPr lang="en-US" sz="2400" dirty="0"/>
          </a:p>
        </p:txBody>
      </p:sp>
    </p:spTree>
    <p:extLst>
      <p:ext uri="{BB962C8B-B14F-4D97-AF65-F5344CB8AC3E}">
        <p14:creationId xmlns:p14="http://schemas.microsoft.com/office/powerpoint/2010/main" val="26712718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682CBC-B84C-8A59-5171-6E9749C5D034}"/>
              </a:ext>
            </a:extLst>
          </p:cNvPr>
          <p:cNvSpPr/>
          <p:nvPr/>
        </p:nvSpPr>
        <p:spPr>
          <a:xfrm>
            <a:off x="838200" y="2133600"/>
            <a:ext cx="7848600" cy="1569660"/>
          </a:xfrm>
          <a:prstGeom prst="rect">
            <a:avLst/>
          </a:prstGeom>
          <a:noFill/>
        </p:spPr>
        <p:txBody>
          <a:bodyPr wrap="squar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28138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80">
                                          <p:stCondLst>
                                            <p:cond delay="0"/>
                                          </p:stCondLst>
                                        </p:cTn>
                                        <p:tgtEl>
                                          <p:spTgt spid="5">
                                            <p:txEl>
                                              <p:pRg st="0" end="0"/>
                                            </p:txEl>
                                          </p:spTgt>
                                        </p:tgtEl>
                                      </p:cBhvr>
                                    </p:animEffect>
                                    <p:anim calcmode="lin" valueType="num">
                                      <p:cBhvr>
                                        <p:cTn id="8" dur="1822" tmFilter="0,0; 0.14,0.36; 0.43,0.73; 0.71,0.91; 1.0,1.0">
                                          <p:stCondLst>
                                            <p:cond delay="0"/>
                                          </p:stCondLst>
                                        </p:cTn>
                                        <p:tgtEl>
                                          <p:spTgt spid="5">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xEl>
                                              <p:pRg st="0" end="0"/>
                                            </p:txEl>
                                          </p:spTgt>
                                        </p:tgtEl>
                                      </p:cBhvr>
                                      <p:to x="100000" y="60000"/>
                                    </p:animScale>
                                    <p:animScale>
                                      <p:cBhvr>
                                        <p:cTn id="14" dur="166" decel="50000">
                                          <p:stCondLst>
                                            <p:cond delay="676"/>
                                          </p:stCondLst>
                                        </p:cTn>
                                        <p:tgtEl>
                                          <p:spTgt spid="5">
                                            <p:txEl>
                                              <p:pRg st="0" end="0"/>
                                            </p:txEl>
                                          </p:spTgt>
                                        </p:tgtEl>
                                      </p:cBhvr>
                                      <p:to x="100000" y="100000"/>
                                    </p:animScale>
                                    <p:animScale>
                                      <p:cBhvr>
                                        <p:cTn id="15" dur="26">
                                          <p:stCondLst>
                                            <p:cond delay="1312"/>
                                          </p:stCondLst>
                                        </p:cTn>
                                        <p:tgtEl>
                                          <p:spTgt spid="5">
                                            <p:txEl>
                                              <p:pRg st="0" end="0"/>
                                            </p:txEl>
                                          </p:spTgt>
                                        </p:tgtEl>
                                      </p:cBhvr>
                                      <p:to x="100000" y="80000"/>
                                    </p:animScale>
                                    <p:animScale>
                                      <p:cBhvr>
                                        <p:cTn id="16" dur="166" decel="50000">
                                          <p:stCondLst>
                                            <p:cond delay="1338"/>
                                          </p:stCondLst>
                                        </p:cTn>
                                        <p:tgtEl>
                                          <p:spTgt spid="5">
                                            <p:txEl>
                                              <p:pRg st="0" end="0"/>
                                            </p:txEl>
                                          </p:spTgt>
                                        </p:tgtEl>
                                      </p:cBhvr>
                                      <p:to x="100000" y="100000"/>
                                    </p:animScale>
                                    <p:animScale>
                                      <p:cBhvr>
                                        <p:cTn id="17" dur="26">
                                          <p:stCondLst>
                                            <p:cond delay="1642"/>
                                          </p:stCondLst>
                                        </p:cTn>
                                        <p:tgtEl>
                                          <p:spTgt spid="5">
                                            <p:txEl>
                                              <p:pRg st="0" end="0"/>
                                            </p:txEl>
                                          </p:spTgt>
                                        </p:tgtEl>
                                      </p:cBhvr>
                                      <p:to x="100000" y="90000"/>
                                    </p:animScale>
                                    <p:animScale>
                                      <p:cBhvr>
                                        <p:cTn id="18" dur="166" decel="50000">
                                          <p:stCondLst>
                                            <p:cond delay="1668"/>
                                          </p:stCondLst>
                                        </p:cTn>
                                        <p:tgtEl>
                                          <p:spTgt spid="5">
                                            <p:txEl>
                                              <p:pRg st="0" end="0"/>
                                            </p:txEl>
                                          </p:spTgt>
                                        </p:tgtEl>
                                      </p:cBhvr>
                                      <p:to x="100000" y="100000"/>
                                    </p:animScale>
                                    <p:animScale>
                                      <p:cBhvr>
                                        <p:cTn id="19" dur="26">
                                          <p:stCondLst>
                                            <p:cond delay="1808"/>
                                          </p:stCondLst>
                                        </p:cTn>
                                        <p:tgtEl>
                                          <p:spTgt spid="5">
                                            <p:txEl>
                                              <p:pRg st="0" end="0"/>
                                            </p:txEl>
                                          </p:spTgt>
                                        </p:tgtEl>
                                      </p:cBhvr>
                                      <p:to x="100000" y="95000"/>
                                    </p:animScale>
                                    <p:animScale>
                                      <p:cBhvr>
                                        <p:cTn id="20" dur="166" decel="50000">
                                          <p:stCondLst>
                                            <p:cond delay="1834"/>
                                          </p:stCondLst>
                                        </p:cTn>
                                        <p:tgtEl>
                                          <p:spTgt spid="5">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marL="12700">
          <a:spcBef>
            <a:spcPts val="105"/>
          </a:spcBef>
          <a:defRPr sz="2400" b="1" dirty="0" smtClean="0">
            <a:solidFill>
              <a:srgbClr val="000000"/>
            </a:solidFill>
            <a:latin typeface="Times New Roman"/>
            <a:cs typeface="Times New Roman"/>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2919</TotalTime>
  <Words>3835</Words>
  <Application>Microsoft Office PowerPoint</Application>
  <PresentationFormat>A4 Paper (210x297 mm)</PresentationFormat>
  <Paragraphs>196</Paragraphs>
  <Slides>43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Aparajita</vt:lpstr>
      <vt:lpstr>Arial</vt:lpstr>
      <vt:lpstr>Arial Unicode MS</vt:lpstr>
      <vt:lpstr>Calibri</vt:lpstr>
      <vt:lpstr>Roboto</vt:lpstr>
      <vt:lpstr>Symbol</vt:lpstr>
      <vt:lpstr>Times New Roman</vt:lpstr>
      <vt:lpstr>Wingdings</vt:lpstr>
      <vt:lpstr>Office Theme</vt:lpstr>
      <vt:lpstr>Global Academy of Technology Rajarajeshwari Nagar,Bengaluru-560098</vt:lpstr>
      <vt:lpstr>Contents</vt:lpstr>
      <vt:lpstr>INTRODUCTION</vt:lpstr>
      <vt:lpstr>PowerPoint Presentation</vt:lpstr>
      <vt:lpstr>PowerPoint Presentation</vt:lpstr>
      <vt:lpstr>LITERATURE SURVEY</vt:lpstr>
      <vt:lpstr>PowerPoint Presentation</vt:lpstr>
      <vt:lpstr>PROBLEM STATEMENT</vt:lpstr>
      <vt:lpstr>OBJECTIVES</vt:lpstr>
      <vt:lpstr>METHODOLOGY/WORKING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IMPLEMENTATION/BLOCK DIAGRAM/FLOWCHART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 AND DISADVANTAGES</vt:lpstr>
      <vt:lpstr>PowerPoint Presentation</vt:lpstr>
      <vt:lpstr>APPLICATIONS</vt:lpstr>
      <vt:lpstr>CONCLUSIONS</vt:lpstr>
      <vt:lpstr>PowerPoint Presentation</vt:lpstr>
      <vt:lpstr>REFERENCES</vt:lpstr>
      <vt:lpstr>PowerPoint Presentation</vt:lpstr>
      <vt:lpstr>PowerPoint Presentation</vt:lpstr>
    </vt:vector>
  </TitlesOfParts>
  <Company>Technofly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dc:title>
  <dc:creator>Technofly Solutions</dc:creator>
  <cp:lastModifiedBy>RAJNISH KUMAR</cp:lastModifiedBy>
  <cp:revision>270</cp:revision>
  <dcterms:created xsi:type="dcterms:W3CDTF">2018-03-07T11:29:33Z</dcterms:created>
  <dcterms:modified xsi:type="dcterms:W3CDTF">2022-07-28T04:36:34Z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2016-03-21T00:00:00Z</vt:filetime>
  </property>
  <property fmtid="{D5CDD505-2E9C-101B-9397-08002B2CF9AE}" pid="3" name="Creator">
    <vt:lpwstr>Microsoft® PowerPoint® 2013</vt:lpwstr>
  </property>
  <property fmtid="{D5CDD505-2E9C-101B-9397-08002B2CF9AE}" pid="4" name="LastSaved">
    <vt:filetime>2018-03-07T00:00:00Z</vt:filetime>
  </property>
</Properties>
</file>